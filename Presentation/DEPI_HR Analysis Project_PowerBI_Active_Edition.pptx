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webextensions/webextension1.xml" ContentType="application/vnd.ms-office.webextension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67" r:id="rId10"/>
    <p:sldId id="264" r:id="rId11"/>
    <p:sldId id="294" r:id="rId12"/>
    <p:sldId id="306" r:id="rId13"/>
    <p:sldId id="321" r:id="rId14"/>
  </p:sldIdLst>
  <p:sldSz cx="9144000" cy="5143500" type="screen16x9"/>
  <p:notesSz cx="6858000" cy="9144000"/>
  <p:embeddedFontLst>
    <p:embeddedFont>
      <p:font typeface="Abel" panose="02000506030000020004" pitchFamily="2" charset="0"/>
      <p:regular r:id="rId16"/>
    </p:embeddedFont>
    <p:embeddedFont>
      <p:font typeface="Aldrich" panose="020B0604020202020204" charset="0"/>
      <p:regular r:id="rId17"/>
    </p:embeddedFont>
    <p:embeddedFont>
      <p:font typeface="Bai Jamjuree" panose="020B0604020202020204" charset="-34"/>
      <p:regular r:id="rId18"/>
      <p:bold r:id="rId19"/>
      <p:italic r:id="rId20"/>
      <p:boldItalic r:id="rId21"/>
    </p:embeddedFont>
    <p:embeddedFont>
      <p:font typeface="Fira Sans" panose="020B0503050000020004" pitchFamily="34" charset="0"/>
      <p:regular r:id="rId22"/>
      <p:bold r:id="rId23"/>
      <p:italic r:id="rId24"/>
      <p:boldItalic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Merriweather" panose="000005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9AAC1-80CE-5475-8567-A8A3165026B7}" v="1" dt="2026-03-16T16:32:46.108"/>
    <p1510:client id="{4B694EF4-EFC7-435D-62E3-E10E2DDEA0EA}" v="20" dt="2026-03-16T16:08:35.399"/>
    <p1510:client id="{7E4BF4AC-012C-1A96-027F-EB09B7144B4E}" v="17" dt="2026-03-16T18:19:26.294"/>
    <p1510:client id="{F0CAD08B-0A7B-2B72-DAEF-C4BDDB8CC634}" v="17" dt="2026-03-16T18:25:47.217"/>
    <p1510:client id="{F126C729-7019-498E-9A05-F6BCE8D5E30F}" v="127" dt="2026-03-16T18:35:20.662"/>
    <p1510:client id="{F85AA91E-1D54-E973-7757-5A2D993592E3}" v="5" dt="2026-03-16T18:08:56.439"/>
  </p1510:revLst>
</p1510:revInfo>
</file>

<file path=ppt/tableStyles.xml><?xml version="1.0" encoding="utf-8"?>
<a:tblStyleLst xmlns:a="http://schemas.openxmlformats.org/drawingml/2006/main" def="{25B6D869-6EFF-4D19-A521-3EE09C8FB971}">
  <a:tblStyle styleId="{25B6D869-6EFF-4D19-A521-3EE09C8FB9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9" name="Google Shape;25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6" name="Google Shape;2596;g127f379f98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7" name="Google Shape;2597;g127f379f983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g127f379f98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0" name="Google Shape;2610;g127f379f98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8">
          <a:extLst>
            <a:ext uri="{FF2B5EF4-FFF2-40B4-BE49-F238E27FC236}">
              <a16:creationId xmlns:a16="http://schemas.microsoft.com/office/drawing/2014/main" id="{9E82D079-EC65-4C67-21CC-246E362D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g127f379f983_0_31:notes">
            <a:extLst>
              <a:ext uri="{FF2B5EF4-FFF2-40B4-BE49-F238E27FC236}">
                <a16:creationId xmlns:a16="http://schemas.microsoft.com/office/drawing/2014/main" id="{3D94BDCB-300F-0102-71B9-4127D77877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0" name="Google Shape;2610;g127f379f983_0_31:notes">
            <a:extLst>
              <a:ext uri="{FF2B5EF4-FFF2-40B4-BE49-F238E27FC236}">
                <a16:creationId xmlns:a16="http://schemas.microsoft.com/office/drawing/2014/main" id="{8E71FB59-EC3A-379B-4EEB-A111F16AE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8725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8">
          <a:extLst>
            <a:ext uri="{FF2B5EF4-FFF2-40B4-BE49-F238E27FC236}">
              <a16:creationId xmlns:a16="http://schemas.microsoft.com/office/drawing/2014/main" id="{9E82D079-EC65-4C67-21CC-246E362D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g127f379f983_0_31:notes">
            <a:extLst>
              <a:ext uri="{FF2B5EF4-FFF2-40B4-BE49-F238E27FC236}">
                <a16:creationId xmlns:a16="http://schemas.microsoft.com/office/drawing/2014/main" id="{3D94BDCB-300F-0102-71B9-4127D77877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0" name="Google Shape;2610;g127f379f983_0_31:notes">
            <a:extLst>
              <a:ext uri="{FF2B5EF4-FFF2-40B4-BE49-F238E27FC236}">
                <a16:creationId xmlns:a16="http://schemas.microsoft.com/office/drawing/2014/main" id="{8E71FB59-EC3A-379B-4EEB-A111F16AE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678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g13e9dbcaf0c_0_2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9" name="Google Shape;2649;g13e9dbcaf0c_0_2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g127f379f98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4" name="Google Shape;2684;g127f379f98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13e9dbca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6" name="Google Shape;2696;g13e9dbca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13e9dbca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6" name="Google Shape;2696;g13e9dbca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2170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13e9dbca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6" name="Google Shape;2696;g13e9dbca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747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Google Shape;4102;g13e437834e8_0_2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3" name="Google Shape;4103;g13e437834e8_0_2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" name="Google Shape;4638;g12948bcd1fb_0_22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9" name="Google Shape;4639;g12948bcd1fb_0_22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1" name="Google Shape;7361;g13e9dbcaf0c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2" name="Google Shape;7362;g13e9dbcaf0c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48375" y="15414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Aldrich"/>
                <a:ea typeface="Aldrich"/>
                <a:cs typeface="Aldrich"/>
                <a:sym typeface="Aldrich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48525" y="3290708"/>
            <a:ext cx="6647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14" name="Google Shape;14;p2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17" name="Google Shape;17;p2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2" name="Google Shape;22;p2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1409864" y="-1010428"/>
            <a:ext cx="2019176" cy="2019176"/>
            <a:chOff x="1943325" y="-220375"/>
            <a:chExt cx="1298672" cy="1298672"/>
          </a:xfrm>
        </p:grpSpPr>
        <p:sp>
          <p:nvSpPr>
            <p:cNvPr id="27" name="Google Shape;27;p2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75;p2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76" name="Google Shape;76;p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2"/>
          <p:cNvSpPr/>
          <p:nvPr/>
        </p:nvSpPr>
        <p:spPr>
          <a:xfrm>
            <a:off x="7796285" y="2758125"/>
            <a:ext cx="825452" cy="1673688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6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6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267" name="Google Shape;267;p6"/>
          <p:cNvGrpSpPr/>
          <p:nvPr/>
        </p:nvGrpSpPr>
        <p:grpSpPr>
          <a:xfrm flipH="1">
            <a:off x="-99423" y="4189150"/>
            <a:ext cx="1039906" cy="679800"/>
            <a:chOff x="4082325" y="3790650"/>
            <a:chExt cx="1039906" cy="679800"/>
          </a:xfrm>
        </p:grpSpPr>
        <p:sp>
          <p:nvSpPr>
            <p:cNvPr id="268" name="Google Shape;268;p6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6"/>
          <p:cNvGrpSpPr/>
          <p:nvPr/>
        </p:nvGrpSpPr>
        <p:grpSpPr>
          <a:xfrm rot="5400000">
            <a:off x="8405096" y="2480296"/>
            <a:ext cx="793256" cy="182899"/>
            <a:chOff x="2685575" y="2835950"/>
            <a:chExt cx="433000" cy="99825"/>
          </a:xfrm>
        </p:grpSpPr>
        <p:sp>
          <p:nvSpPr>
            <p:cNvPr id="272" name="Google Shape;272;p6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6"/>
          <p:cNvGrpSpPr/>
          <p:nvPr/>
        </p:nvGrpSpPr>
        <p:grpSpPr>
          <a:xfrm flipH="1">
            <a:off x="8194575" y="4265345"/>
            <a:ext cx="1965289" cy="517060"/>
            <a:chOff x="3539975" y="3523525"/>
            <a:chExt cx="745925" cy="196250"/>
          </a:xfrm>
        </p:grpSpPr>
        <p:sp>
          <p:nvSpPr>
            <p:cNvPr id="277" name="Google Shape;277;p6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6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3"/>
          <p:cNvPicPr preferRelativeResize="0"/>
          <p:nvPr/>
        </p:nvPicPr>
        <p:blipFill rotWithShape="1">
          <a:blip r:embed="rId2">
            <a:alphaModFix amt="60000"/>
          </a:blip>
          <a:srcRect l="40" r="30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3"/>
          <p:cNvSpPr txBox="1">
            <a:spLocks noGrp="1"/>
          </p:cNvSpPr>
          <p:nvPr>
            <p:ph type="title" hasCustomPrompt="1"/>
          </p:nvPr>
        </p:nvSpPr>
        <p:spPr>
          <a:xfrm>
            <a:off x="817925" y="1535078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>
            <a:spLocks noGrp="1"/>
          </p:cNvSpPr>
          <p:nvPr>
            <p:ph type="subTitle" idx="1"/>
          </p:nvPr>
        </p:nvSpPr>
        <p:spPr>
          <a:xfrm>
            <a:off x="1639675" y="148345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13"/>
          <p:cNvSpPr txBox="1">
            <a:spLocks noGrp="1"/>
          </p:cNvSpPr>
          <p:nvPr>
            <p:ph type="subTitle" idx="2"/>
          </p:nvPr>
        </p:nvSpPr>
        <p:spPr>
          <a:xfrm>
            <a:off x="1639675" y="183804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13"/>
          <p:cNvSpPr txBox="1">
            <a:spLocks noGrp="1"/>
          </p:cNvSpPr>
          <p:nvPr>
            <p:ph type="title" idx="3" hasCustomPrompt="1"/>
          </p:nvPr>
        </p:nvSpPr>
        <p:spPr>
          <a:xfrm>
            <a:off x="817925" y="254729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1" name="Google Shape;561;p13"/>
          <p:cNvSpPr txBox="1">
            <a:spLocks noGrp="1"/>
          </p:cNvSpPr>
          <p:nvPr>
            <p:ph type="subTitle" idx="4"/>
          </p:nvPr>
        </p:nvSpPr>
        <p:spPr>
          <a:xfrm>
            <a:off x="1639675" y="2497425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13"/>
          <p:cNvSpPr txBox="1">
            <a:spLocks noGrp="1"/>
          </p:cNvSpPr>
          <p:nvPr>
            <p:ph type="subTitle" idx="5"/>
          </p:nvPr>
        </p:nvSpPr>
        <p:spPr>
          <a:xfrm>
            <a:off x="1639675" y="2852015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13"/>
          <p:cNvSpPr txBox="1">
            <a:spLocks noGrp="1"/>
          </p:cNvSpPr>
          <p:nvPr>
            <p:ph type="title" idx="6" hasCustomPrompt="1"/>
          </p:nvPr>
        </p:nvSpPr>
        <p:spPr>
          <a:xfrm>
            <a:off x="817925" y="355951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>
            <a:spLocks noGrp="1"/>
          </p:cNvSpPr>
          <p:nvPr>
            <p:ph type="subTitle" idx="7"/>
          </p:nvPr>
        </p:nvSpPr>
        <p:spPr>
          <a:xfrm>
            <a:off x="1639675" y="351140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5" name="Google Shape;565;p13"/>
          <p:cNvSpPr txBox="1">
            <a:spLocks noGrp="1"/>
          </p:cNvSpPr>
          <p:nvPr>
            <p:ph type="subTitle" idx="8"/>
          </p:nvPr>
        </p:nvSpPr>
        <p:spPr>
          <a:xfrm>
            <a:off x="1639675" y="386599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13"/>
          <p:cNvSpPr txBox="1">
            <a:spLocks noGrp="1"/>
          </p:cNvSpPr>
          <p:nvPr>
            <p:ph type="title" idx="9" hasCustomPrompt="1"/>
          </p:nvPr>
        </p:nvSpPr>
        <p:spPr>
          <a:xfrm>
            <a:off x="4707713" y="1535078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>
            <a:spLocks noGrp="1"/>
          </p:cNvSpPr>
          <p:nvPr>
            <p:ph type="subTitle" idx="13"/>
          </p:nvPr>
        </p:nvSpPr>
        <p:spPr>
          <a:xfrm>
            <a:off x="5529413" y="148345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8" name="Google Shape;568;p13"/>
          <p:cNvSpPr txBox="1">
            <a:spLocks noGrp="1"/>
          </p:cNvSpPr>
          <p:nvPr>
            <p:ph type="subTitle" idx="14"/>
          </p:nvPr>
        </p:nvSpPr>
        <p:spPr>
          <a:xfrm>
            <a:off x="5529413" y="183804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13"/>
          <p:cNvSpPr txBox="1">
            <a:spLocks noGrp="1"/>
          </p:cNvSpPr>
          <p:nvPr>
            <p:ph type="title" idx="15" hasCustomPrompt="1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70" name="Google Shape;570;p13"/>
          <p:cNvSpPr txBox="1">
            <a:spLocks noGrp="1"/>
          </p:cNvSpPr>
          <p:nvPr>
            <p:ph type="subTitle" idx="16"/>
          </p:nvPr>
        </p:nvSpPr>
        <p:spPr>
          <a:xfrm>
            <a:off x="5529413" y="2497425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13"/>
          <p:cNvSpPr txBox="1">
            <a:spLocks noGrp="1"/>
          </p:cNvSpPr>
          <p:nvPr>
            <p:ph type="subTitle" idx="17"/>
          </p:nvPr>
        </p:nvSpPr>
        <p:spPr>
          <a:xfrm>
            <a:off x="5529413" y="2852015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13"/>
          <p:cNvSpPr txBox="1">
            <a:spLocks noGrp="1"/>
          </p:cNvSpPr>
          <p:nvPr>
            <p:ph type="title" idx="18" hasCustomPrompt="1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73" name="Google Shape;573;p13"/>
          <p:cNvSpPr txBox="1">
            <a:spLocks noGrp="1"/>
          </p:cNvSpPr>
          <p:nvPr>
            <p:ph type="subTitle" idx="19"/>
          </p:nvPr>
        </p:nvSpPr>
        <p:spPr>
          <a:xfrm>
            <a:off x="5529413" y="351140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subTitle" idx="20"/>
          </p:nvPr>
        </p:nvSpPr>
        <p:spPr>
          <a:xfrm>
            <a:off x="5529413" y="386599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13"/>
          <p:cNvSpPr txBox="1">
            <a:spLocks noGrp="1"/>
          </p:cNvSpPr>
          <p:nvPr>
            <p:ph type="title" idx="21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576" name="Google Shape;576;p13"/>
          <p:cNvGrpSpPr/>
          <p:nvPr/>
        </p:nvGrpSpPr>
        <p:grpSpPr>
          <a:xfrm>
            <a:off x="8246982" y="3524700"/>
            <a:ext cx="1039906" cy="679800"/>
            <a:chOff x="4082325" y="3790650"/>
            <a:chExt cx="1039906" cy="679800"/>
          </a:xfrm>
        </p:grpSpPr>
        <p:sp>
          <p:nvSpPr>
            <p:cNvPr id="577" name="Google Shape;577;p13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13"/>
          <p:cNvGrpSpPr/>
          <p:nvPr/>
        </p:nvGrpSpPr>
        <p:grpSpPr>
          <a:xfrm>
            <a:off x="-846423" y="4392645"/>
            <a:ext cx="1965289" cy="517060"/>
            <a:chOff x="3539975" y="3523525"/>
            <a:chExt cx="745925" cy="196250"/>
          </a:xfrm>
        </p:grpSpPr>
        <p:sp>
          <p:nvSpPr>
            <p:cNvPr id="581" name="Google Shape;581;p13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7" name="Google Shape;597;p13"/>
          <p:cNvGrpSpPr/>
          <p:nvPr/>
        </p:nvGrpSpPr>
        <p:grpSpPr>
          <a:xfrm flipH="1">
            <a:off x="-3594575" y="-199329"/>
            <a:ext cx="4000413" cy="3175881"/>
            <a:chOff x="5207925" y="-1994879"/>
            <a:chExt cx="4000413" cy="3175881"/>
          </a:xfrm>
        </p:grpSpPr>
        <p:sp>
          <p:nvSpPr>
            <p:cNvPr id="598" name="Google Shape;598;p13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5207925" y="352772"/>
              <a:ext cx="96613" cy="394888"/>
            </a:xfrm>
            <a:custGeom>
              <a:avLst/>
              <a:gdLst/>
              <a:ahLst/>
              <a:cxnLst/>
              <a:rect l="l" t="t" r="r" b="b"/>
              <a:pathLst>
                <a:path w="2199" h="8988" extrusionOk="0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9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14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4"/>
          <p:cNvSpPr txBox="1">
            <a:spLocks noGrp="1"/>
          </p:cNvSpPr>
          <p:nvPr>
            <p:ph type="title" hasCustomPrompt="1"/>
          </p:nvPr>
        </p:nvSpPr>
        <p:spPr>
          <a:xfrm>
            <a:off x="2167181" y="1194994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04" name="Google Shape;604;p14"/>
          <p:cNvSpPr txBox="1">
            <a:spLocks noGrp="1"/>
          </p:cNvSpPr>
          <p:nvPr>
            <p:ph type="subTitle" idx="1"/>
          </p:nvPr>
        </p:nvSpPr>
        <p:spPr>
          <a:xfrm>
            <a:off x="2988905" y="1244525"/>
            <a:ext cx="39879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4"/>
          <p:cNvSpPr txBox="1">
            <a:spLocks noGrp="1"/>
          </p:cNvSpPr>
          <p:nvPr>
            <p:ph type="subTitle" idx="2"/>
          </p:nvPr>
        </p:nvSpPr>
        <p:spPr>
          <a:xfrm>
            <a:off x="2988888" y="1599134"/>
            <a:ext cx="3987900" cy="2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6" name="Google Shape;606;p14"/>
          <p:cNvSpPr txBox="1">
            <a:spLocks noGrp="1"/>
          </p:cNvSpPr>
          <p:nvPr>
            <p:ph type="title" idx="3" hasCustomPrompt="1"/>
          </p:nvPr>
        </p:nvSpPr>
        <p:spPr>
          <a:xfrm>
            <a:off x="2167181" y="208980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07" name="Google Shape;607;p14"/>
          <p:cNvSpPr txBox="1">
            <a:spLocks noGrp="1"/>
          </p:cNvSpPr>
          <p:nvPr>
            <p:ph type="subTitle" idx="4"/>
          </p:nvPr>
        </p:nvSpPr>
        <p:spPr>
          <a:xfrm>
            <a:off x="2988905" y="2139342"/>
            <a:ext cx="39879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14"/>
          <p:cNvSpPr txBox="1">
            <a:spLocks noGrp="1"/>
          </p:cNvSpPr>
          <p:nvPr>
            <p:ph type="subTitle" idx="5"/>
          </p:nvPr>
        </p:nvSpPr>
        <p:spPr>
          <a:xfrm>
            <a:off x="2988888" y="2493949"/>
            <a:ext cx="3987900" cy="2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14"/>
          <p:cNvSpPr txBox="1">
            <a:spLocks noGrp="1"/>
          </p:cNvSpPr>
          <p:nvPr>
            <p:ph type="title" idx="6" hasCustomPrompt="1"/>
          </p:nvPr>
        </p:nvSpPr>
        <p:spPr>
          <a:xfrm>
            <a:off x="2167181" y="2984623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10" name="Google Shape;610;p14"/>
          <p:cNvSpPr txBox="1">
            <a:spLocks noGrp="1"/>
          </p:cNvSpPr>
          <p:nvPr>
            <p:ph type="subTitle" idx="7"/>
          </p:nvPr>
        </p:nvSpPr>
        <p:spPr>
          <a:xfrm>
            <a:off x="2988905" y="3034159"/>
            <a:ext cx="39879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14"/>
          <p:cNvSpPr txBox="1">
            <a:spLocks noGrp="1"/>
          </p:cNvSpPr>
          <p:nvPr>
            <p:ph type="subTitle" idx="8"/>
          </p:nvPr>
        </p:nvSpPr>
        <p:spPr>
          <a:xfrm>
            <a:off x="2988888" y="3388763"/>
            <a:ext cx="3987900" cy="2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14"/>
          <p:cNvSpPr txBox="1">
            <a:spLocks noGrp="1"/>
          </p:cNvSpPr>
          <p:nvPr>
            <p:ph type="title" idx="9" hasCustomPrompt="1"/>
          </p:nvPr>
        </p:nvSpPr>
        <p:spPr>
          <a:xfrm>
            <a:off x="2167181" y="3879438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13" name="Google Shape;613;p14"/>
          <p:cNvSpPr txBox="1">
            <a:spLocks noGrp="1"/>
          </p:cNvSpPr>
          <p:nvPr>
            <p:ph type="subTitle" idx="13"/>
          </p:nvPr>
        </p:nvSpPr>
        <p:spPr>
          <a:xfrm>
            <a:off x="2988905" y="3928977"/>
            <a:ext cx="39879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14"/>
          <p:cNvSpPr txBox="1">
            <a:spLocks noGrp="1"/>
          </p:cNvSpPr>
          <p:nvPr>
            <p:ph type="subTitle" idx="14"/>
          </p:nvPr>
        </p:nvSpPr>
        <p:spPr>
          <a:xfrm>
            <a:off x="2988888" y="4283578"/>
            <a:ext cx="3987900" cy="2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5" name="Google Shape;615;p14"/>
          <p:cNvSpPr txBox="1">
            <a:spLocks noGrp="1"/>
          </p:cNvSpPr>
          <p:nvPr>
            <p:ph type="title" idx="15" hasCustomPrompt="1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16" name="Google Shape;616;p14"/>
          <p:cNvSpPr txBox="1">
            <a:spLocks noGrp="1"/>
          </p:cNvSpPr>
          <p:nvPr>
            <p:ph type="title" idx="16" hasCustomPrompt="1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17" name="Google Shape;617;p14"/>
          <p:cNvSpPr txBox="1">
            <a:spLocks noGrp="1"/>
          </p:cNvSpPr>
          <p:nvPr>
            <p:ph type="title" idx="17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618" name="Google Shape;618;p14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619" name="Google Shape;619;p14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4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1" name="Google Shape;621;p14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622" name="Google Shape;622;p14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4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4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4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6" name="Google Shape;626;p14"/>
          <p:cNvGrpSpPr/>
          <p:nvPr/>
        </p:nvGrpSpPr>
        <p:grpSpPr>
          <a:xfrm>
            <a:off x="163264" y="4378897"/>
            <a:ext cx="2019176" cy="2019176"/>
            <a:chOff x="1943325" y="-220375"/>
            <a:chExt cx="1298672" cy="1298672"/>
          </a:xfrm>
        </p:grpSpPr>
        <p:sp>
          <p:nvSpPr>
            <p:cNvPr id="627" name="Google Shape;627;p14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4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4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4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4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4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4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4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4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4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4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4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4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4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4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4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4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4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4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4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4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4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4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675;p14"/>
          <p:cNvGrpSpPr/>
          <p:nvPr/>
        </p:nvGrpSpPr>
        <p:grpSpPr>
          <a:xfrm>
            <a:off x="8354090" y="2590370"/>
            <a:ext cx="1965289" cy="517060"/>
            <a:chOff x="3539975" y="3523525"/>
            <a:chExt cx="745925" cy="196250"/>
          </a:xfrm>
        </p:grpSpPr>
        <p:sp>
          <p:nvSpPr>
            <p:cNvPr id="676" name="Google Shape;676;p14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4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4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4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4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4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4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4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4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4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4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4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4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4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4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0" name="Google Shape;2470;p51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1" name="Google Shape;2471;p51"/>
          <p:cNvPicPr preferRelativeResize="0"/>
          <p:nvPr/>
        </p:nvPicPr>
        <p:blipFill rotWithShape="1">
          <a:blip r:embed="rId3">
            <a:alphaModFix amt="60000"/>
          </a:blip>
          <a:srcRect t="10" b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2" name="Google Shape;247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3" name="Google Shape;2473;p51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474" name="Google Shape;2474;p51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51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6" name="Google Shape;2476;p51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2477" name="Google Shape;2477;p51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51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51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1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1" name="Google Shape;2481;p51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482" name="Google Shape;2482;p51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1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1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51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6" name="Google Shape;2486;p51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487" name="Google Shape;2487;p51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51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51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51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51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51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51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51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1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1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1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51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51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51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1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1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03" name="Google Shape;250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1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5" name="Google Shape;2505;p52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6" name="Google Shape;2506;p52"/>
          <p:cNvPicPr preferRelativeResize="0"/>
          <p:nvPr/>
        </p:nvPicPr>
        <p:blipFill rotWithShape="1">
          <a:blip r:embed="rId3">
            <a:alphaModFix/>
          </a:blip>
          <a:srcRect l="229" r="239"/>
          <a:stretch/>
        </p:blipFill>
        <p:spPr>
          <a:xfrm flipH="1">
            <a:off x="-9" y="40160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7" name="Google Shape;2507;p52"/>
          <p:cNvGrpSpPr/>
          <p:nvPr/>
        </p:nvGrpSpPr>
        <p:grpSpPr>
          <a:xfrm flipH="1">
            <a:off x="8483181" y="4016070"/>
            <a:ext cx="283332" cy="284718"/>
            <a:chOff x="423709" y="3302025"/>
            <a:chExt cx="216416" cy="217475"/>
          </a:xfrm>
        </p:grpSpPr>
        <p:sp>
          <p:nvSpPr>
            <p:cNvPr id="2508" name="Google Shape;2508;p52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2"/>
            <p:cNvSpPr/>
            <p:nvPr/>
          </p:nvSpPr>
          <p:spPr>
            <a:xfrm>
              <a:off x="423709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0" name="Google Shape;2510;p52"/>
          <p:cNvGrpSpPr/>
          <p:nvPr/>
        </p:nvGrpSpPr>
        <p:grpSpPr>
          <a:xfrm flipH="1">
            <a:off x="8175513" y="140497"/>
            <a:ext cx="2019176" cy="2019176"/>
            <a:chOff x="1943325" y="-220375"/>
            <a:chExt cx="1298672" cy="1298672"/>
          </a:xfrm>
        </p:grpSpPr>
        <p:sp>
          <p:nvSpPr>
            <p:cNvPr id="2511" name="Google Shape;2511;p52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2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2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2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2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2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2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2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2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2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2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2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52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52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52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2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52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52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52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52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52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52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52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52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52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52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52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52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52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52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2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52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52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52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52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52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52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52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52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52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52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52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2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2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52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52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52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52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9" name="Google Shape;2559;p52"/>
          <p:cNvGrpSpPr/>
          <p:nvPr/>
        </p:nvGrpSpPr>
        <p:grpSpPr>
          <a:xfrm flipH="1">
            <a:off x="-467701" y="3429220"/>
            <a:ext cx="1965289" cy="517060"/>
            <a:chOff x="3539975" y="3523525"/>
            <a:chExt cx="745925" cy="196250"/>
          </a:xfrm>
        </p:grpSpPr>
        <p:sp>
          <p:nvSpPr>
            <p:cNvPr id="2560" name="Google Shape;2560;p5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5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5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5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5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5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5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5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5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5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5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5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5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5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5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5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76" name="Google Shape;257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03499" y="-6460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9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9"/>
          <p:cNvSpPr txBox="1">
            <a:spLocks noGrp="1"/>
          </p:cNvSpPr>
          <p:nvPr>
            <p:ph type="title"/>
          </p:nvPr>
        </p:nvSpPr>
        <p:spPr>
          <a:xfrm>
            <a:off x="803348" y="1764416"/>
            <a:ext cx="4635900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9"/>
          <p:cNvSpPr txBox="1">
            <a:spLocks noGrp="1"/>
          </p:cNvSpPr>
          <p:nvPr>
            <p:ph type="subTitle" idx="1"/>
          </p:nvPr>
        </p:nvSpPr>
        <p:spPr>
          <a:xfrm>
            <a:off x="803350" y="2483809"/>
            <a:ext cx="4635900" cy="13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89" name="Google Shape;389;p9"/>
          <p:cNvGrpSpPr/>
          <p:nvPr/>
        </p:nvGrpSpPr>
        <p:grpSpPr>
          <a:xfrm>
            <a:off x="391864" y="4307270"/>
            <a:ext cx="289170" cy="284718"/>
            <a:chOff x="426000" y="3302025"/>
            <a:chExt cx="220875" cy="217475"/>
          </a:xfrm>
        </p:grpSpPr>
        <p:sp>
          <p:nvSpPr>
            <p:cNvPr id="390" name="Google Shape;390;p9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9"/>
          <p:cNvGrpSpPr/>
          <p:nvPr/>
        </p:nvGrpSpPr>
        <p:grpSpPr>
          <a:xfrm>
            <a:off x="4724908" y="599573"/>
            <a:ext cx="793256" cy="182899"/>
            <a:chOff x="2685575" y="2835950"/>
            <a:chExt cx="433000" cy="99825"/>
          </a:xfrm>
        </p:grpSpPr>
        <p:sp>
          <p:nvSpPr>
            <p:cNvPr id="393" name="Google Shape;393;p9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3091076" y="4281547"/>
            <a:ext cx="2019176" cy="2019176"/>
            <a:chOff x="1943325" y="-220375"/>
            <a:chExt cx="1298672" cy="1298672"/>
          </a:xfrm>
        </p:grpSpPr>
        <p:sp>
          <p:nvSpPr>
            <p:cNvPr id="398" name="Google Shape;398;p9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9"/>
          <p:cNvGrpSpPr/>
          <p:nvPr/>
        </p:nvGrpSpPr>
        <p:grpSpPr>
          <a:xfrm>
            <a:off x="8513377" y="4281545"/>
            <a:ext cx="1965289" cy="517060"/>
            <a:chOff x="3539975" y="3523525"/>
            <a:chExt cx="745925" cy="196250"/>
          </a:xfrm>
        </p:grpSpPr>
        <p:sp>
          <p:nvSpPr>
            <p:cNvPr id="447" name="Google Shape;447;p9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" name="Google Shape;463;p9"/>
          <p:cNvSpPr/>
          <p:nvPr/>
        </p:nvSpPr>
        <p:spPr>
          <a:xfrm>
            <a:off x="1765763" y="533623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8509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5" name="Google Shape;1805;p38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6" name="Google Shape;1806;p38"/>
          <p:cNvSpPr txBox="1">
            <a:spLocks noGrp="1"/>
          </p:cNvSpPr>
          <p:nvPr>
            <p:ph type="title"/>
          </p:nvPr>
        </p:nvSpPr>
        <p:spPr>
          <a:xfrm>
            <a:off x="1825050" y="1909850"/>
            <a:ext cx="54939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807" name="Google Shape;1807;p38"/>
          <p:cNvGrpSpPr/>
          <p:nvPr/>
        </p:nvGrpSpPr>
        <p:grpSpPr>
          <a:xfrm>
            <a:off x="1364665" y="639534"/>
            <a:ext cx="1965289" cy="517060"/>
            <a:chOff x="3539975" y="3523525"/>
            <a:chExt cx="745925" cy="196250"/>
          </a:xfrm>
        </p:grpSpPr>
        <p:sp>
          <p:nvSpPr>
            <p:cNvPr id="1808" name="Google Shape;1808;p38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8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8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8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8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8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8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8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8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8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8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8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8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8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8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8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24" name="Google Shape;18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01200" y="3499563"/>
            <a:ext cx="7194375" cy="2062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5" name="Google Shape;1825;p38"/>
          <p:cNvGrpSpPr/>
          <p:nvPr/>
        </p:nvGrpSpPr>
        <p:grpSpPr>
          <a:xfrm>
            <a:off x="8063763" y="2173397"/>
            <a:ext cx="357454" cy="956304"/>
            <a:chOff x="357713" y="600975"/>
            <a:chExt cx="357454" cy="956304"/>
          </a:xfrm>
        </p:grpSpPr>
        <p:sp>
          <p:nvSpPr>
            <p:cNvPr id="1826" name="Google Shape;1826;p38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8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8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8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0" name="Google Shape;1830;p38"/>
          <p:cNvSpPr/>
          <p:nvPr/>
        </p:nvSpPr>
        <p:spPr>
          <a:xfrm flipH="1">
            <a:off x="4294245" y="620913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1" name="Google Shape;1831;p38"/>
          <p:cNvGrpSpPr/>
          <p:nvPr/>
        </p:nvGrpSpPr>
        <p:grpSpPr>
          <a:xfrm rot="-5400000">
            <a:off x="-2779003" y="-1736891"/>
            <a:ext cx="3952129" cy="3175881"/>
            <a:chOff x="5256209" y="-1994879"/>
            <a:chExt cx="3952129" cy="3175881"/>
          </a:xfrm>
        </p:grpSpPr>
        <p:sp>
          <p:nvSpPr>
            <p:cNvPr id="1832" name="Google Shape;1832;p38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8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4" name="Google Shape;1834;p38"/>
          <p:cNvSpPr txBox="1">
            <a:spLocks noGrp="1"/>
          </p:cNvSpPr>
          <p:nvPr>
            <p:ph type="subTitle" idx="1"/>
          </p:nvPr>
        </p:nvSpPr>
        <p:spPr>
          <a:xfrm>
            <a:off x="1825050" y="2427700"/>
            <a:ext cx="54939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64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7" name="Google Shape;2217;p47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8" name="Google Shape;2218;p47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2219" name="Google Shape;2219;p47"/>
          <p:cNvGrpSpPr/>
          <p:nvPr/>
        </p:nvGrpSpPr>
        <p:grpSpPr>
          <a:xfrm>
            <a:off x="391864" y="1291684"/>
            <a:ext cx="289170" cy="284718"/>
            <a:chOff x="426000" y="3302025"/>
            <a:chExt cx="220875" cy="217475"/>
          </a:xfrm>
        </p:grpSpPr>
        <p:sp>
          <p:nvSpPr>
            <p:cNvPr id="2220" name="Google Shape;2220;p47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7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2" name="Google Shape;2222;p47"/>
          <p:cNvGrpSpPr/>
          <p:nvPr/>
        </p:nvGrpSpPr>
        <p:grpSpPr>
          <a:xfrm rot="10800000" flipH="1">
            <a:off x="357713" y="3259593"/>
            <a:ext cx="357454" cy="956304"/>
            <a:chOff x="357713" y="600975"/>
            <a:chExt cx="357454" cy="956304"/>
          </a:xfrm>
        </p:grpSpPr>
        <p:sp>
          <p:nvSpPr>
            <p:cNvPr id="2223" name="Google Shape;2223;p47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7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7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7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7" name="Google Shape;2227;p47"/>
          <p:cNvGrpSpPr/>
          <p:nvPr/>
        </p:nvGrpSpPr>
        <p:grpSpPr>
          <a:xfrm rot="10800000" flipH="1">
            <a:off x="5872083" y="4723023"/>
            <a:ext cx="793256" cy="182899"/>
            <a:chOff x="2685575" y="2835950"/>
            <a:chExt cx="433000" cy="99825"/>
          </a:xfrm>
        </p:grpSpPr>
        <p:sp>
          <p:nvSpPr>
            <p:cNvPr id="2228" name="Google Shape;2228;p47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7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7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7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2" name="Google Shape;2232;p47"/>
          <p:cNvGrpSpPr/>
          <p:nvPr/>
        </p:nvGrpSpPr>
        <p:grpSpPr>
          <a:xfrm rot="10800000" flipH="1">
            <a:off x="507239" y="4684974"/>
            <a:ext cx="2019176" cy="2019176"/>
            <a:chOff x="1943325" y="-220375"/>
            <a:chExt cx="1298672" cy="1298672"/>
          </a:xfrm>
        </p:grpSpPr>
        <p:sp>
          <p:nvSpPr>
            <p:cNvPr id="2233" name="Google Shape;2233;p47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7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7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7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7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7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7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7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7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7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7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7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7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7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7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7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7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7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7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7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47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47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47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7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47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47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47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7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47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7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7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7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7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7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47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47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47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47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47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47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47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47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7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47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47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47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47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47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1" name="Google Shape;2281;p47"/>
          <p:cNvGrpSpPr/>
          <p:nvPr/>
        </p:nvGrpSpPr>
        <p:grpSpPr>
          <a:xfrm rot="10800000" flipH="1">
            <a:off x="7907690" y="538242"/>
            <a:ext cx="1965289" cy="517060"/>
            <a:chOff x="3539975" y="3523525"/>
            <a:chExt cx="745925" cy="196250"/>
          </a:xfrm>
        </p:grpSpPr>
        <p:sp>
          <p:nvSpPr>
            <p:cNvPr id="2282" name="Google Shape;2282;p47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47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47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47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47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47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47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47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7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47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47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47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47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47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47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47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19069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5" name="Google Shape;2165;p45"/>
          <p:cNvPicPr preferRelativeResize="0"/>
          <p:nvPr/>
        </p:nvPicPr>
        <p:blipFill rotWithShape="1">
          <a:blip r:embed="rId2">
            <a:alphaModFix amt="60000"/>
          </a:blip>
          <a:srcRect l="40" r="3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66" name="Google Shape;2166;p45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2167" name="Google Shape;2167;p45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168" name="Google Shape;2168;p45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5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0" name="Google Shape;2170;p45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2171" name="Google Shape;2171;p45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5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5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5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5" name="Google Shape;2175;p45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176" name="Google Shape;2176;p45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5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5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5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5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5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5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5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5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5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5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5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5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45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45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45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59033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17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17"/>
          <p:cNvSpPr txBox="1">
            <a:spLocks noGrp="1"/>
          </p:cNvSpPr>
          <p:nvPr>
            <p:ph type="body" idx="1"/>
          </p:nvPr>
        </p:nvSpPr>
        <p:spPr>
          <a:xfrm flipH="1">
            <a:off x="4572000" y="1687975"/>
            <a:ext cx="3856500" cy="29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4" name="Google Shape;774;p17"/>
          <p:cNvSpPr txBox="1">
            <a:spLocks noGrp="1"/>
          </p:cNvSpPr>
          <p:nvPr>
            <p:ph type="body" idx="2"/>
          </p:nvPr>
        </p:nvSpPr>
        <p:spPr>
          <a:xfrm flipH="1">
            <a:off x="715500" y="1687975"/>
            <a:ext cx="3856500" cy="29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5" name="Google Shape;775;p17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776" name="Google Shape;776;p17"/>
          <p:cNvGrpSpPr/>
          <p:nvPr/>
        </p:nvGrpSpPr>
        <p:grpSpPr>
          <a:xfrm>
            <a:off x="391864" y="4078670"/>
            <a:ext cx="289170" cy="284718"/>
            <a:chOff x="426000" y="3302025"/>
            <a:chExt cx="220875" cy="217475"/>
          </a:xfrm>
        </p:grpSpPr>
        <p:sp>
          <p:nvSpPr>
            <p:cNvPr id="777" name="Google Shape;777;p17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7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694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550" y="1152475"/>
            <a:ext cx="7713000" cy="3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59" r:id="rId4"/>
    <p:sldLayoutId id="2147483660" r:id="rId5"/>
    <p:sldLayoutId id="2147483697" r:id="rId6"/>
    <p:sldLayoutId id="2147483698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jpe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rawdaraafat/DEPI_HR_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58"/>
          <p:cNvSpPr txBox="1">
            <a:spLocks noGrp="1"/>
          </p:cNvSpPr>
          <p:nvPr>
            <p:ph type="ctrTitle"/>
          </p:nvPr>
        </p:nvSpPr>
        <p:spPr>
          <a:xfrm>
            <a:off x="624112" y="1501861"/>
            <a:ext cx="7895625" cy="164179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tr-TR" sz="5800" dirty="0"/>
              <a:t>HR ANALYSIS </a:t>
            </a:r>
            <a:r>
              <a:rPr lang="tr-TR" sz="5050" dirty="0">
                <a:solidFill>
                  <a:schemeClr val="dk2"/>
                </a:solidFill>
              </a:rPr>
              <a:t>DASHBOARD PROJECT</a:t>
            </a:r>
            <a:endParaRPr sz="5050" dirty="0">
              <a:solidFill>
                <a:schemeClr val="dk2"/>
              </a:solidFill>
            </a:endParaRPr>
          </a:p>
        </p:txBody>
      </p:sp>
      <p:cxnSp>
        <p:nvCxnSpPr>
          <p:cNvPr id="2594" name="Google Shape;2594;p58"/>
          <p:cNvCxnSpPr/>
          <p:nvPr/>
        </p:nvCxnSpPr>
        <p:spPr>
          <a:xfrm>
            <a:off x="1863749" y="3162850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82B381A-8A67-A89F-4E26-373C4A173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876" y="390317"/>
            <a:ext cx="974096" cy="895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9" name="Google Shape;2599;p59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Members</a:t>
            </a:r>
            <a:endParaRPr dirty="0"/>
          </a:p>
        </p:txBody>
      </p:sp>
      <p:sp>
        <p:nvSpPr>
          <p:cNvPr id="2" name="Google Shape;2617;p60">
            <a:extLst>
              <a:ext uri="{FF2B5EF4-FFF2-40B4-BE49-F238E27FC236}">
                <a16:creationId xmlns:a16="http://schemas.microsoft.com/office/drawing/2014/main" id="{B05E9DA5-C383-7598-70FA-265AE308A51C}"/>
              </a:ext>
            </a:extLst>
          </p:cNvPr>
          <p:cNvSpPr/>
          <p:nvPr/>
        </p:nvSpPr>
        <p:spPr>
          <a:xfrm>
            <a:off x="715500" y="1262703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619;p60">
            <a:extLst>
              <a:ext uri="{FF2B5EF4-FFF2-40B4-BE49-F238E27FC236}">
                <a16:creationId xmlns:a16="http://schemas.microsoft.com/office/drawing/2014/main" id="{BBE5B6AC-1644-D483-95A2-3DD5D9BEB3B8}"/>
              </a:ext>
            </a:extLst>
          </p:cNvPr>
          <p:cNvSpPr txBox="1">
            <a:spLocks/>
          </p:cNvSpPr>
          <p:nvPr/>
        </p:nvSpPr>
        <p:spPr>
          <a:xfrm>
            <a:off x="646298" y="1167783"/>
            <a:ext cx="685641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ctr"/>
            <a:r>
              <a:rPr lang="en" sz="2400" dirty="0">
                <a:solidFill>
                  <a:schemeClr val="dk1"/>
                </a:solidFill>
              </a:rPr>
              <a:t>01</a:t>
            </a:r>
          </a:p>
        </p:txBody>
      </p:sp>
      <p:sp>
        <p:nvSpPr>
          <p:cNvPr id="16" name="Google Shape;2617;p60">
            <a:extLst>
              <a:ext uri="{FF2B5EF4-FFF2-40B4-BE49-F238E27FC236}">
                <a16:creationId xmlns:a16="http://schemas.microsoft.com/office/drawing/2014/main" id="{3DF3A1B9-7FF9-9301-62F4-7D7CA95FCD33}"/>
              </a:ext>
            </a:extLst>
          </p:cNvPr>
          <p:cNvSpPr/>
          <p:nvPr/>
        </p:nvSpPr>
        <p:spPr>
          <a:xfrm>
            <a:off x="711364" y="201745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619;p60">
            <a:extLst>
              <a:ext uri="{FF2B5EF4-FFF2-40B4-BE49-F238E27FC236}">
                <a16:creationId xmlns:a16="http://schemas.microsoft.com/office/drawing/2014/main" id="{F611E881-4F15-27EF-4487-4AF88EEC54F6}"/>
              </a:ext>
            </a:extLst>
          </p:cNvPr>
          <p:cNvSpPr txBox="1">
            <a:spLocks/>
          </p:cNvSpPr>
          <p:nvPr/>
        </p:nvSpPr>
        <p:spPr>
          <a:xfrm>
            <a:off x="553987" y="1943503"/>
            <a:ext cx="870265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ctr"/>
            <a:r>
              <a:rPr lang="en" sz="2400" dirty="0">
                <a:solidFill>
                  <a:schemeClr val="dk1"/>
                </a:solidFill>
              </a:rPr>
              <a:t>02</a:t>
            </a:r>
          </a:p>
        </p:txBody>
      </p:sp>
      <p:sp>
        <p:nvSpPr>
          <p:cNvPr id="17" name="Google Shape;2617;p60">
            <a:extLst>
              <a:ext uri="{FF2B5EF4-FFF2-40B4-BE49-F238E27FC236}">
                <a16:creationId xmlns:a16="http://schemas.microsoft.com/office/drawing/2014/main" id="{CAA772FC-9C9C-084A-A096-349C9A5CEBC5}"/>
              </a:ext>
            </a:extLst>
          </p:cNvPr>
          <p:cNvSpPr/>
          <p:nvPr/>
        </p:nvSpPr>
        <p:spPr>
          <a:xfrm>
            <a:off x="711362" y="2801650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617;p60">
            <a:extLst>
              <a:ext uri="{FF2B5EF4-FFF2-40B4-BE49-F238E27FC236}">
                <a16:creationId xmlns:a16="http://schemas.microsoft.com/office/drawing/2014/main" id="{6086E64E-2A83-FCCD-9700-869A6B0A0A94}"/>
              </a:ext>
            </a:extLst>
          </p:cNvPr>
          <p:cNvSpPr/>
          <p:nvPr/>
        </p:nvSpPr>
        <p:spPr>
          <a:xfrm>
            <a:off x="4572000" y="1262703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617;p60">
            <a:extLst>
              <a:ext uri="{FF2B5EF4-FFF2-40B4-BE49-F238E27FC236}">
                <a16:creationId xmlns:a16="http://schemas.microsoft.com/office/drawing/2014/main" id="{258437B5-C444-9D84-73D3-BF8A56B85DF4}"/>
              </a:ext>
            </a:extLst>
          </p:cNvPr>
          <p:cNvSpPr/>
          <p:nvPr/>
        </p:nvSpPr>
        <p:spPr>
          <a:xfrm>
            <a:off x="4572000" y="201745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617;p60">
            <a:extLst>
              <a:ext uri="{FF2B5EF4-FFF2-40B4-BE49-F238E27FC236}">
                <a16:creationId xmlns:a16="http://schemas.microsoft.com/office/drawing/2014/main" id="{8145F9A2-BF73-A233-20C1-C02159AF4985}"/>
              </a:ext>
            </a:extLst>
          </p:cNvPr>
          <p:cNvSpPr/>
          <p:nvPr/>
        </p:nvSpPr>
        <p:spPr>
          <a:xfrm>
            <a:off x="4571999" y="2804928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619;p60">
            <a:extLst>
              <a:ext uri="{FF2B5EF4-FFF2-40B4-BE49-F238E27FC236}">
                <a16:creationId xmlns:a16="http://schemas.microsoft.com/office/drawing/2014/main" id="{5E0A82B8-9C23-1DFC-6755-5E26687AA333}"/>
              </a:ext>
            </a:extLst>
          </p:cNvPr>
          <p:cNvSpPr txBox="1">
            <a:spLocks/>
          </p:cNvSpPr>
          <p:nvPr/>
        </p:nvSpPr>
        <p:spPr>
          <a:xfrm>
            <a:off x="553985" y="2719223"/>
            <a:ext cx="870265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ctr"/>
            <a:r>
              <a:rPr lang="en" sz="2400" dirty="0">
                <a:solidFill>
                  <a:schemeClr val="dk1"/>
                </a:solidFill>
              </a:rPr>
              <a:t>03</a:t>
            </a:r>
          </a:p>
        </p:txBody>
      </p:sp>
      <p:sp>
        <p:nvSpPr>
          <p:cNvPr id="22" name="Google Shape;2619;p60">
            <a:extLst>
              <a:ext uri="{FF2B5EF4-FFF2-40B4-BE49-F238E27FC236}">
                <a16:creationId xmlns:a16="http://schemas.microsoft.com/office/drawing/2014/main" id="{3843AFE0-064C-B54D-62E0-CDF585C9F71C}"/>
              </a:ext>
            </a:extLst>
          </p:cNvPr>
          <p:cNvSpPr txBox="1">
            <a:spLocks/>
          </p:cNvSpPr>
          <p:nvPr/>
        </p:nvSpPr>
        <p:spPr>
          <a:xfrm>
            <a:off x="4414624" y="1208136"/>
            <a:ext cx="870265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ctr"/>
            <a:r>
              <a:rPr lang="en" sz="2400" dirty="0">
                <a:solidFill>
                  <a:schemeClr val="dk1"/>
                </a:solidFill>
              </a:rPr>
              <a:t>04</a:t>
            </a:r>
          </a:p>
        </p:txBody>
      </p:sp>
      <p:sp>
        <p:nvSpPr>
          <p:cNvPr id="23" name="Google Shape;2619;p60">
            <a:extLst>
              <a:ext uri="{FF2B5EF4-FFF2-40B4-BE49-F238E27FC236}">
                <a16:creationId xmlns:a16="http://schemas.microsoft.com/office/drawing/2014/main" id="{01AFA90E-FEC4-E156-2607-D02A51BE13E6}"/>
              </a:ext>
            </a:extLst>
          </p:cNvPr>
          <p:cNvSpPr txBox="1">
            <a:spLocks/>
          </p:cNvSpPr>
          <p:nvPr/>
        </p:nvSpPr>
        <p:spPr>
          <a:xfrm>
            <a:off x="4414621" y="1943503"/>
            <a:ext cx="870265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ctr"/>
            <a:r>
              <a:rPr lang="en" sz="2400" dirty="0">
                <a:solidFill>
                  <a:schemeClr val="dk1"/>
                </a:solidFill>
              </a:rPr>
              <a:t>05</a:t>
            </a:r>
          </a:p>
        </p:txBody>
      </p:sp>
      <p:sp>
        <p:nvSpPr>
          <p:cNvPr id="24" name="Google Shape;2619;p60">
            <a:extLst>
              <a:ext uri="{FF2B5EF4-FFF2-40B4-BE49-F238E27FC236}">
                <a16:creationId xmlns:a16="http://schemas.microsoft.com/office/drawing/2014/main" id="{E20EA3AC-7C64-5292-6AFB-0629B2930E6A}"/>
              </a:ext>
            </a:extLst>
          </p:cNvPr>
          <p:cNvSpPr txBox="1">
            <a:spLocks/>
          </p:cNvSpPr>
          <p:nvPr/>
        </p:nvSpPr>
        <p:spPr>
          <a:xfrm>
            <a:off x="4414622" y="2720558"/>
            <a:ext cx="870265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ctr"/>
            <a:r>
              <a:rPr lang="en" sz="2400" dirty="0">
                <a:solidFill>
                  <a:schemeClr val="dk1"/>
                </a:solidFill>
              </a:rPr>
              <a:t>06</a:t>
            </a:r>
          </a:p>
        </p:txBody>
      </p:sp>
      <p:sp>
        <p:nvSpPr>
          <p:cNvPr id="25" name="Google Shape;2620;p60">
            <a:extLst>
              <a:ext uri="{FF2B5EF4-FFF2-40B4-BE49-F238E27FC236}">
                <a16:creationId xmlns:a16="http://schemas.microsoft.com/office/drawing/2014/main" id="{9B3005EF-02BA-5063-ED31-73433A7EEDA2}"/>
              </a:ext>
            </a:extLst>
          </p:cNvPr>
          <p:cNvSpPr txBox="1">
            <a:spLocks/>
          </p:cNvSpPr>
          <p:nvPr/>
        </p:nvSpPr>
        <p:spPr>
          <a:xfrm>
            <a:off x="1331939" y="1374627"/>
            <a:ext cx="2729824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ts val="2850"/>
              </a:lnSpc>
              <a:buSzPct val="100000"/>
            </a:pPr>
            <a:r>
              <a:rPr lang="en-US" sz="18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Omar Eissa Ibrahim</a:t>
            </a:r>
          </a:p>
        </p:txBody>
      </p:sp>
      <p:sp>
        <p:nvSpPr>
          <p:cNvPr id="26" name="Google Shape;2620;p60">
            <a:extLst>
              <a:ext uri="{FF2B5EF4-FFF2-40B4-BE49-F238E27FC236}">
                <a16:creationId xmlns:a16="http://schemas.microsoft.com/office/drawing/2014/main" id="{C82434A1-0584-86A6-FD2F-A78372A45CD3}"/>
              </a:ext>
            </a:extLst>
          </p:cNvPr>
          <p:cNvSpPr txBox="1">
            <a:spLocks/>
          </p:cNvSpPr>
          <p:nvPr/>
        </p:nvSpPr>
        <p:spPr>
          <a:xfrm>
            <a:off x="1331939" y="2069677"/>
            <a:ext cx="3018680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ts val="2850"/>
              </a:lnSpc>
              <a:buSzPct val="100000"/>
            </a:pPr>
            <a:r>
              <a:rPr lang="en-US" sz="18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Omar Mahmoud Kamel</a:t>
            </a:r>
          </a:p>
        </p:txBody>
      </p:sp>
      <p:sp>
        <p:nvSpPr>
          <p:cNvPr id="27" name="Google Shape;2620;p60">
            <a:extLst>
              <a:ext uri="{FF2B5EF4-FFF2-40B4-BE49-F238E27FC236}">
                <a16:creationId xmlns:a16="http://schemas.microsoft.com/office/drawing/2014/main" id="{A805004C-9154-74A6-6693-8A515D203586}"/>
              </a:ext>
            </a:extLst>
          </p:cNvPr>
          <p:cNvSpPr txBox="1">
            <a:spLocks/>
          </p:cNvSpPr>
          <p:nvPr/>
        </p:nvSpPr>
        <p:spPr>
          <a:xfrm>
            <a:off x="1331939" y="2893284"/>
            <a:ext cx="2729824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ts val="2850"/>
              </a:lnSpc>
              <a:buSzPct val="100000"/>
            </a:pPr>
            <a:r>
              <a:rPr lang="en-US" sz="18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Diana Adel</a:t>
            </a:r>
          </a:p>
        </p:txBody>
      </p:sp>
      <p:sp>
        <p:nvSpPr>
          <p:cNvPr id="28" name="Google Shape;2620;p60">
            <a:extLst>
              <a:ext uri="{FF2B5EF4-FFF2-40B4-BE49-F238E27FC236}">
                <a16:creationId xmlns:a16="http://schemas.microsoft.com/office/drawing/2014/main" id="{49A1F4E5-D7AC-86E7-26BC-8F7874ACFFD1}"/>
              </a:ext>
            </a:extLst>
          </p:cNvPr>
          <p:cNvSpPr txBox="1">
            <a:spLocks/>
          </p:cNvSpPr>
          <p:nvPr/>
        </p:nvSpPr>
        <p:spPr>
          <a:xfrm>
            <a:off x="5191519" y="1345421"/>
            <a:ext cx="2729824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ts val="2850"/>
              </a:lnSpc>
              <a:buSzPct val="100000"/>
            </a:pPr>
            <a:r>
              <a:rPr lang="en-US" sz="18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Rawda Raafat Ramadan</a:t>
            </a:r>
            <a:endParaRPr lang="en-US" sz="1800" b="1" dirty="0"/>
          </a:p>
        </p:txBody>
      </p:sp>
      <p:sp>
        <p:nvSpPr>
          <p:cNvPr id="29" name="Google Shape;2620;p60">
            <a:extLst>
              <a:ext uri="{FF2B5EF4-FFF2-40B4-BE49-F238E27FC236}">
                <a16:creationId xmlns:a16="http://schemas.microsoft.com/office/drawing/2014/main" id="{5C2D80A4-F302-0CA3-7489-C7717B7AD68A}"/>
              </a:ext>
            </a:extLst>
          </p:cNvPr>
          <p:cNvSpPr txBox="1">
            <a:spLocks/>
          </p:cNvSpPr>
          <p:nvPr/>
        </p:nvSpPr>
        <p:spPr>
          <a:xfrm>
            <a:off x="5191519" y="2126193"/>
            <a:ext cx="3398486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ts val="2850"/>
              </a:lnSpc>
              <a:buSzPct val="100000"/>
            </a:pPr>
            <a:r>
              <a:rPr lang="en-US" sz="18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Maryam Ahmed Salah El-Din</a:t>
            </a:r>
            <a:endParaRPr lang="en-US" sz="1800" b="1" dirty="0"/>
          </a:p>
        </p:txBody>
      </p:sp>
      <p:sp>
        <p:nvSpPr>
          <p:cNvPr id="30" name="Google Shape;2620;p60">
            <a:extLst>
              <a:ext uri="{FF2B5EF4-FFF2-40B4-BE49-F238E27FC236}">
                <a16:creationId xmlns:a16="http://schemas.microsoft.com/office/drawing/2014/main" id="{6BB4577B-5539-1307-A2A4-CF8916BBB5CA}"/>
              </a:ext>
            </a:extLst>
          </p:cNvPr>
          <p:cNvSpPr txBox="1">
            <a:spLocks/>
          </p:cNvSpPr>
          <p:nvPr/>
        </p:nvSpPr>
        <p:spPr>
          <a:xfrm>
            <a:off x="5191519" y="2893284"/>
            <a:ext cx="2729824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ts val="2850"/>
              </a:lnSpc>
              <a:buClrTx/>
              <a:buSzPct val="100000"/>
            </a:pPr>
            <a:r>
              <a:rPr lang="en-US" sz="1800" b="1" kern="1200" dirty="0">
                <a:solidFill>
                  <a:srgbClr val="E0D6DE"/>
                </a:solidFill>
                <a:latin typeface="Fira Sans" panose="020B0503050000020004" pitchFamily="34" charset="0"/>
                <a:ea typeface="Fira Sans" panose="020B0503050000020004" pitchFamily="34" charset="0"/>
                <a:cs typeface="Fira Sans" panose="020B0503050000020004" pitchFamily="34" charset="0"/>
              </a:rPr>
              <a:t>Habiba Ragab Mohamed</a:t>
            </a:r>
            <a:endParaRPr lang="en-GB" sz="18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F73CB6-1922-4F92-B69A-808847126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739" y="131098"/>
            <a:ext cx="974096" cy="895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9" grpId="0"/>
      <p:bldP spid="2" grpId="0" animBg="1"/>
      <p:bldP spid="3" grpId="0"/>
      <p:bldP spid="16" grpId="0" animBg="1"/>
      <p:bldP spid="15" grpId="0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60"/>
          <p:cNvSpPr txBox="1">
            <a:spLocks noGrp="1"/>
          </p:cNvSpPr>
          <p:nvPr>
            <p:ph type="title" idx="21"/>
          </p:nvPr>
        </p:nvSpPr>
        <p:spPr>
          <a:xfrm>
            <a:off x="563954" y="60402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OVERVIEW</a:t>
            </a:r>
            <a:endParaRPr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61522D9-181F-343A-C6B5-D1578A3E1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524" y="10229"/>
            <a:ext cx="974096" cy="895540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A6CAC482-73A0-5A06-4171-58B514C6E5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4052" y="1306886"/>
            <a:ext cx="722637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ar-SA" altLang="ar-SA" sz="1800" dirty="0">
                <a:solidFill>
                  <a:schemeClr val="bg1"/>
                </a:solidFill>
                <a:latin typeface="Aldrich" panose="020B0604020202020204" charset="0"/>
              </a:rPr>
              <a:t>This project 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analyzes Human Resources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ata to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U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ncover workforce </a:t>
            </a:r>
            <a:r>
              <a:rPr lang="ar-SA" altLang="ar-SA" sz="1800" dirty="0">
                <a:solidFill>
                  <a:schemeClr val="bg1"/>
                </a:solidFill>
                <a:latin typeface="Aldrich" panose="020B0604020202020204" charset="0"/>
              </a:rPr>
              <a:t>patterns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 and generate meaningful insights. It focuses on key areas such as </a:t>
            </a:r>
            <a:r>
              <a:rPr kumimoji="0" lang="en-US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mployee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emographics, hiring trends, department distribution, and attrition rates to better understand organizational dynamics.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ldrich" panose="020B060402020202020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ldrich" panose="020B060402020202020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The analysis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elps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I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dentify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F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actors that impact employee retention and workforce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P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lanning. The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F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inal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utcome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I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s an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I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nteractive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ashboard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hat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P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resents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hese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I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nsights in a clear and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V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isual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W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ay,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nabling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takeholders to make more </a:t>
            </a:r>
            <a:r>
              <a:rPr kumimoji="0" lang="en-US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I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nformed, </a:t>
            </a:r>
            <a:r>
              <a:rPr lang="en-US" altLang="ar-SA" sz="1800" dirty="0">
                <a:solidFill>
                  <a:schemeClr val="bg1"/>
                </a:solidFill>
                <a:latin typeface="Aldrich" panose="020B0604020202020204" charset="0"/>
              </a:rPr>
              <a:t>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ldrich" panose="020B0604020202020204" charset="0"/>
              </a:rPr>
              <a:t>ata-driven HR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1">
          <a:extLst>
            <a:ext uri="{FF2B5EF4-FFF2-40B4-BE49-F238E27FC236}">
              <a16:creationId xmlns:a16="http://schemas.microsoft.com/office/drawing/2014/main" id="{C24C0480-1BD3-61BC-D71F-F3389DD0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60">
            <a:extLst>
              <a:ext uri="{FF2B5EF4-FFF2-40B4-BE49-F238E27FC236}">
                <a16:creationId xmlns:a16="http://schemas.microsoft.com/office/drawing/2014/main" id="{AD8FF123-F2CE-B752-A3E0-384C2ECC18F2}"/>
              </a:ext>
            </a:extLst>
          </p:cNvPr>
          <p:cNvSpPr txBox="1">
            <a:spLocks noGrp="1"/>
          </p:cNvSpPr>
          <p:nvPr>
            <p:ph type="title" idx="21"/>
          </p:nvPr>
        </p:nvSpPr>
        <p:spPr>
          <a:xfrm>
            <a:off x="563954" y="60402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SOURCE</a:t>
            </a:r>
            <a:endParaRPr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7392E84-EAD8-BD11-B3ED-BDCE5D2C1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524" y="156250"/>
            <a:ext cx="974096" cy="89554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4844823-48F7-E881-0798-8B9C451C6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334" y="1262470"/>
            <a:ext cx="5789826" cy="2867570"/>
          </a:xfrm>
        </p:spPr>
        <p:txBody>
          <a:bodyPr/>
          <a:lstStyle/>
          <a:p>
            <a:r>
              <a:rPr lang="en-US" dirty="0"/>
              <a:t>Digital Egypt Pioneers Initiative (DIPE)</a:t>
            </a:r>
          </a:p>
          <a:p>
            <a:r>
              <a:rPr lang="en-US" dirty="0"/>
              <a:t>(Excel, csv)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124137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1">
          <a:extLst>
            <a:ext uri="{FF2B5EF4-FFF2-40B4-BE49-F238E27FC236}">
              <a16:creationId xmlns:a16="http://schemas.microsoft.com/office/drawing/2014/main" id="{C24C0480-1BD3-61BC-D71F-F3389DD0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60">
            <a:extLst>
              <a:ext uri="{FF2B5EF4-FFF2-40B4-BE49-F238E27FC236}">
                <a16:creationId xmlns:a16="http://schemas.microsoft.com/office/drawing/2014/main" id="{AD8FF123-F2CE-B752-A3E0-384C2ECC18F2}"/>
              </a:ext>
            </a:extLst>
          </p:cNvPr>
          <p:cNvSpPr txBox="1">
            <a:spLocks noGrp="1"/>
          </p:cNvSpPr>
          <p:nvPr>
            <p:ph type="title" idx="21"/>
          </p:nvPr>
        </p:nvSpPr>
        <p:spPr>
          <a:xfrm>
            <a:off x="563954" y="60402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Question To Be Answer</a:t>
            </a:r>
            <a:endParaRPr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7392E84-EAD8-BD11-B3ED-BDCE5D2C1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524" y="156250"/>
            <a:ext cx="974096" cy="89554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4844823-48F7-E881-0798-8B9C451C6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565" y="959444"/>
            <a:ext cx="7938666" cy="3488507"/>
          </a:xfrm>
        </p:spPr>
        <p:txBody>
          <a:bodyPr/>
          <a:lstStyle/>
          <a:p>
            <a:endParaRPr lang="en-US" sz="1600" b="1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600" b="1" dirty="0">
                <a:latin typeface="+mj-lt"/>
              </a:rPr>
              <a:t>What is the demographic profile of the workforce (Age, Gender, and Department distribution)?</a:t>
            </a:r>
          </a:p>
          <a:p>
            <a:pPr>
              <a:buFont typeface="+mj-lt"/>
              <a:buAutoNum type="arabicPeriod"/>
            </a:pPr>
            <a:endParaRPr lang="en-US" sz="16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600" b="1" dirty="0">
                <a:latin typeface="+mj-lt"/>
              </a:rPr>
              <a:t>How is the geographic distribution and commute distance impacting the employees?</a:t>
            </a:r>
          </a:p>
          <a:p>
            <a:pPr>
              <a:buFont typeface="+mj-lt"/>
              <a:buAutoNum type="arabicPeriod"/>
            </a:pPr>
            <a:endParaRPr lang="en-US" sz="16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600" b="1" dirty="0">
                <a:latin typeface="+mj-lt"/>
              </a:rPr>
              <a:t>What are the key drivers of employee attrition (Overtime, Salary ranges, and Departments)?</a:t>
            </a:r>
          </a:p>
          <a:p>
            <a:pPr>
              <a:buFont typeface="+mj-lt"/>
              <a:buAutoNum type="arabicPeriod"/>
            </a:pPr>
            <a:endParaRPr lang="en-US" sz="16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sz="1600" b="1" dirty="0">
                <a:latin typeface="+mj-lt"/>
              </a:rPr>
              <a:t>How are compensation and stock options distributed across different job roles?</a:t>
            </a:r>
            <a:endParaRPr lang="en-US" sz="1600" dirty="0">
              <a:latin typeface="+mj-lt"/>
            </a:endParaRPr>
          </a:p>
          <a:p>
            <a:endParaRPr lang="ar-SA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2898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p61"/>
          <p:cNvSpPr txBox="1">
            <a:spLocks noGrp="1"/>
          </p:cNvSpPr>
          <p:nvPr>
            <p:ph type="title" idx="17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ANALYSIS STEPS</a:t>
            </a:r>
            <a:endParaRPr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70D9FFF-0B7B-13E9-4585-464A5CE07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388" y="138080"/>
            <a:ext cx="974096" cy="89554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1A8E20C-8339-59C2-ED5F-1BB62DCF39C5}"/>
              </a:ext>
            </a:extLst>
          </p:cNvPr>
          <p:cNvGrpSpPr/>
          <p:nvPr/>
        </p:nvGrpSpPr>
        <p:grpSpPr>
          <a:xfrm>
            <a:off x="344047" y="1706409"/>
            <a:ext cx="8148389" cy="1805187"/>
            <a:chOff x="476099" y="1708492"/>
            <a:chExt cx="8148389" cy="1805187"/>
          </a:xfrm>
        </p:grpSpPr>
        <p:sp>
          <p:nvSpPr>
            <p:cNvPr id="25" name="Google Shape;7107;p119">
              <a:extLst>
                <a:ext uri="{FF2B5EF4-FFF2-40B4-BE49-F238E27FC236}">
                  <a16:creationId xmlns:a16="http://schemas.microsoft.com/office/drawing/2014/main" id="{FC890539-EC19-F791-C923-D88CE3862078}"/>
                </a:ext>
              </a:extLst>
            </p:cNvPr>
            <p:cNvSpPr/>
            <p:nvPr/>
          </p:nvSpPr>
          <p:spPr>
            <a:xfrm>
              <a:off x="1699901" y="1711283"/>
              <a:ext cx="1144310" cy="903710"/>
            </a:xfrm>
            <a:prstGeom prst="round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  <p:sp>
          <p:nvSpPr>
            <p:cNvPr id="26" name="Google Shape;7108;p119">
              <a:extLst>
                <a:ext uri="{FF2B5EF4-FFF2-40B4-BE49-F238E27FC236}">
                  <a16:creationId xmlns:a16="http://schemas.microsoft.com/office/drawing/2014/main" id="{F9DAE1E3-FAD1-501B-BB47-82477AF53396}"/>
                </a:ext>
              </a:extLst>
            </p:cNvPr>
            <p:cNvSpPr/>
            <p:nvPr/>
          </p:nvSpPr>
          <p:spPr>
            <a:xfrm>
              <a:off x="2846536" y="2609876"/>
              <a:ext cx="1144292" cy="903803"/>
            </a:xfrm>
            <a:prstGeom prst="round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109;p119">
              <a:extLst>
                <a:ext uri="{FF2B5EF4-FFF2-40B4-BE49-F238E27FC236}">
                  <a16:creationId xmlns:a16="http://schemas.microsoft.com/office/drawing/2014/main" id="{F4F1B7BD-DE8A-4F62-CEDA-9D600B773C89}"/>
                </a:ext>
              </a:extLst>
            </p:cNvPr>
            <p:cNvSpPr/>
            <p:nvPr/>
          </p:nvSpPr>
          <p:spPr>
            <a:xfrm>
              <a:off x="3993171" y="1708492"/>
              <a:ext cx="1144292" cy="903803"/>
            </a:xfrm>
            <a:prstGeom prst="round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110;p119">
              <a:extLst>
                <a:ext uri="{FF2B5EF4-FFF2-40B4-BE49-F238E27FC236}">
                  <a16:creationId xmlns:a16="http://schemas.microsoft.com/office/drawing/2014/main" id="{03D02F9A-B494-5116-C692-9A805FF0CF6E}"/>
                </a:ext>
              </a:extLst>
            </p:cNvPr>
            <p:cNvSpPr/>
            <p:nvPr/>
          </p:nvSpPr>
          <p:spPr>
            <a:xfrm>
              <a:off x="553267" y="2609876"/>
              <a:ext cx="1144292" cy="903803"/>
            </a:xfrm>
            <a:prstGeom prst="round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111;p119">
              <a:extLst>
                <a:ext uri="{FF2B5EF4-FFF2-40B4-BE49-F238E27FC236}">
                  <a16:creationId xmlns:a16="http://schemas.microsoft.com/office/drawing/2014/main" id="{8C5E0C4F-DD94-B70D-CF11-AE553B8855EF}"/>
                </a:ext>
              </a:extLst>
            </p:cNvPr>
            <p:cNvSpPr txBox="1"/>
            <p:nvPr/>
          </p:nvSpPr>
          <p:spPr>
            <a:xfrm flipH="1">
              <a:off x="3936412" y="2225708"/>
              <a:ext cx="1272170" cy="2935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lt1"/>
                  </a:solidFill>
                  <a:latin typeface="Bai Jamjuree"/>
                  <a:cs typeface="Bai Jamjuree"/>
                  <a:sym typeface="Bai Jamjuree"/>
                </a:rPr>
                <a:t>Visual</a:t>
              </a:r>
              <a:r>
                <a:rPr lang="en-GB" sz="1000" b="1" dirty="0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 </a:t>
              </a:r>
              <a:r>
                <a:rPr lang="en-GB" dirty="0">
                  <a:solidFill>
                    <a:schemeClr val="lt1"/>
                  </a:solidFill>
                  <a:latin typeface="Bai Jamjuree"/>
                  <a:cs typeface="Bai Jamjuree"/>
                  <a:sym typeface="Bai Jamjuree"/>
                </a:rPr>
                <a:t>Sample</a:t>
              </a:r>
              <a:endParaRPr dirty="0">
                <a:solidFill>
                  <a:schemeClr val="lt1"/>
                </a:solidFill>
                <a:latin typeface="Bai Jamjuree"/>
                <a:cs typeface="Bai Jamjuree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dirty="0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30" name="Google Shape;7112;p119">
              <a:extLst>
                <a:ext uri="{FF2B5EF4-FFF2-40B4-BE49-F238E27FC236}">
                  <a16:creationId xmlns:a16="http://schemas.microsoft.com/office/drawing/2014/main" id="{2BA3F8B2-812A-D634-BF1E-A29493B27B52}"/>
                </a:ext>
              </a:extLst>
            </p:cNvPr>
            <p:cNvSpPr txBox="1"/>
            <p:nvPr/>
          </p:nvSpPr>
          <p:spPr>
            <a:xfrm flipH="1">
              <a:off x="4044137" y="1823201"/>
              <a:ext cx="1056722" cy="2243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04</a:t>
              </a:r>
            </a:p>
          </p:txBody>
        </p:sp>
        <p:sp>
          <p:nvSpPr>
            <p:cNvPr id="31" name="Google Shape;7113;p119">
              <a:extLst>
                <a:ext uri="{FF2B5EF4-FFF2-40B4-BE49-F238E27FC236}">
                  <a16:creationId xmlns:a16="http://schemas.microsoft.com/office/drawing/2014/main" id="{0D252E84-EA70-7E97-771F-306D26ADA4E0}"/>
                </a:ext>
              </a:extLst>
            </p:cNvPr>
            <p:cNvSpPr txBox="1"/>
            <p:nvPr/>
          </p:nvSpPr>
          <p:spPr>
            <a:xfrm flipH="1">
              <a:off x="2786383" y="3039315"/>
              <a:ext cx="1272170" cy="456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dirty="0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DAX</a:t>
              </a:r>
              <a:endParaRPr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32" name="Google Shape;7114;p119">
              <a:extLst>
                <a:ext uri="{FF2B5EF4-FFF2-40B4-BE49-F238E27FC236}">
                  <a16:creationId xmlns:a16="http://schemas.microsoft.com/office/drawing/2014/main" id="{367A4FCD-3468-FDEE-4C43-DC91A1B6B021}"/>
                </a:ext>
              </a:extLst>
            </p:cNvPr>
            <p:cNvSpPr txBox="1"/>
            <p:nvPr/>
          </p:nvSpPr>
          <p:spPr>
            <a:xfrm flipH="1">
              <a:off x="2926187" y="2754871"/>
              <a:ext cx="969230" cy="187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03</a:t>
              </a:r>
            </a:p>
          </p:txBody>
        </p:sp>
        <p:sp>
          <p:nvSpPr>
            <p:cNvPr id="33" name="Google Shape;7115;p119">
              <a:extLst>
                <a:ext uri="{FF2B5EF4-FFF2-40B4-BE49-F238E27FC236}">
                  <a16:creationId xmlns:a16="http://schemas.microsoft.com/office/drawing/2014/main" id="{6E162FBC-2EEB-CA64-4C50-343A7A948A7D}"/>
                </a:ext>
              </a:extLst>
            </p:cNvPr>
            <p:cNvSpPr txBox="1"/>
            <p:nvPr/>
          </p:nvSpPr>
          <p:spPr>
            <a:xfrm flipH="1">
              <a:off x="1667674" y="2118274"/>
              <a:ext cx="1225063" cy="448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dirty="0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Data Modelling </a:t>
              </a:r>
              <a:endParaRPr lang="en-GB" sz="15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34" name="Google Shape;7116;p119">
              <a:extLst>
                <a:ext uri="{FF2B5EF4-FFF2-40B4-BE49-F238E27FC236}">
                  <a16:creationId xmlns:a16="http://schemas.microsoft.com/office/drawing/2014/main" id="{DADC5357-E9C6-2207-FB8F-499B7909906E}"/>
                </a:ext>
              </a:extLst>
            </p:cNvPr>
            <p:cNvSpPr txBox="1"/>
            <p:nvPr/>
          </p:nvSpPr>
          <p:spPr>
            <a:xfrm flipH="1">
              <a:off x="1783793" y="1859812"/>
              <a:ext cx="969292" cy="1877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02</a:t>
              </a:r>
            </a:p>
          </p:txBody>
        </p:sp>
        <p:sp>
          <p:nvSpPr>
            <p:cNvPr id="35" name="Google Shape;7117;p119">
              <a:extLst>
                <a:ext uri="{FF2B5EF4-FFF2-40B4-BE49-F238E27FC236}">
                  <a16:creationId xmlns:a16="http://schemas.microsoft.com/office/drawing/2014/main" id="{D1C56B2C-D032-3A18-3313-044C65AB477E}"/>
                </a:ext>
              </a:extLst>
            </p:cNvPr>
            <p:cNvSpPr txBox="1"/>
            <p:nvPr/>
          </p:nvSpPr>
          <p:spPr>
            <a:xfrm flipH="1">
              <a:off x="476099" y="3028674"/>
              <a:ext cx="1298628" cy="456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dirty="0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Data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500" dirty="0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 </a:t>
              </a:r>
              <a:r>
                <a:rPr lang="en-US" sz="1500" dirty="0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Cleaning</a:t>
              </a:r>
              <a:r>
                <a:rPr lang="tr-TR" sz="1500" dirty="0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 </a:t>
              </a:r>
              <a:endParaRPr lang="en-GB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36" name="Google Shape;7118;p119">
              <a:extLst>
                <a:ext uri="{FF2B5EF4-FFF2-40B4-BE49-F238E27FC236}">
                  <a16:creationId xmlns:a16="http://schemas.microsoft.com/office/drawing/2014/main" id="{48EE24BC-0702-92A2-CA05-D4477E47EA3E}"/>
                </a:ext>
              </a:extLst>
            </p:cNvPr>
            <p:cNvSpPr txBox="1"/>
            <p:nvPr/>
          </p:nvSpPr>
          <p:spPr>
            <a:xfrm flipH="1">
              <a:off x="640838" y="2754924"/>
              <a:ext cx="969230" cy="187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01</a:t>
              </a:r>
              <a:endParaRPr sz="1300" b="1" dirty="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cxnSp>
          <p:nvCxnSpPr>
            <p:cNvPr id="37" name="Google Shape;7119;p119">
              <a:extLst>
                <a:ext uri="{FF2B5EF4-FFF2-40B4-BE49-F238E27FC236}">
                  <a16:creationId xmlns:a16="http://schemas.microsoft.com/office/drawing/2014/main" id="{DA83253C-7F8C-9394-4997-3515CA576331}"/>
                </a:ext>
              </a:extLst>
            </p:cNvPr>
            <p:cNvCxnSpPr/>
            <p:nvPr/>
          </p:nvCxnSpPr>
          <p:spPr>
            <a:xfrm rot="10800000" flipH="1">
              <a:off x="1695632" y="2614862"/>
              <a:ext cx="572808" cy="452843"/>
            </a:xfrm>
            <a:prstGeom prst="bentConnector3">
              <a:avLst>
                <a:gd name="adj1" fmla="val 99663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" name="Google Shape;7120;p119">
              <a:extLst>
                <a:ext uri="{FF2B5EF4-FFF2-40B4-BE49-F238E27FC236}">
                  <a16:creationId xmlns:a16="http://schemas.microsoft.com/office/drawing/2014/main" id="{B5E12BCA-7413-D710-0FB3-435B89338205}"/>
                </a:ext>
              </a:extLst>
            </p:cNvPr>
            <p:cNvCxnSpPr/>
            <p:nvPr/>
          </p:nvCxnSpPr>
          <p:spPr>
            <a:xfrm rot="16200000" flipH="1">
              <a:off x="2882787" y="2073981"/>
              <a:ext cx="507801" cy="563988"/>
            </a:xfrm>
            <a:prstGeom prst="bentConnector3">
              <a:avLst>
                <a:gd name="adj1" fmla="val -109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" name="Google Shape;7121;p119">
              <a:extLst>
                <a:ext uri="{FF2B5EF4-FFF2-40B4-BE49-F238E27FC236}">
                  <a16:creationId xmlns:a16="http://schemas.microsoft.com/office/drawing/2014/main" id="{F7C9B9FD-8556-2050-E34F-D5EF345A12A9}"/>
                </a:ext>
              </a:extLst>
            </p:cNvPr>
            <p:cNvCxnSpPr/>
            <p:nvPr/>
          </p:nvCxnSpPr>
          <p:spPr>
            <a:xfrm rot="10800000" flipH="1">
              <a:off x="3999691" y="2622368"/>
              <a:ext cx="572808" cy="452843"/>
            </a:xfrm>
            <a:prstGeom prst="bentConnector2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0" name="Google Shape;7109;p119">
              <a:extLst>
                <a:ext uri="{FF2B5EF4-FFF2-40B4-BE49-F238E27FC236}">
                  <a16:creationId xmlns:a16="http://schemas.microsoft.com/office/drawing/2014/main" id="{8B4CB96F-1C36-76EF-E6EE-E23F5ACEFF15}"/>
                </a:ext>
              </a:extLst>
            </p:cNvPr>
            <p:cNvSpPr/>
            <p:nvPr/>
          </p:nvSpPr>
          <p:spPr>
            <a:xfrm>
              <a:off x="5137463" y="2609876"/>
              <a:ext cx="1144292" cy="903803"/>
            </a:xfrm>
            <a:prstGeom prst="round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7109;p119">
              <a:extLst>
                <a:ext uri="{FF2B5EF4-FFF2-40B4-BE49-F238E27FC236}">
                  <a16:creationId xmlns:a16="http://schemas.microsoft.com/office/drawing/2014/main" id="{42B7E003-FE11-79AC-999F-EA9F550EDDC7}"/>
                </a:ext>
              </a:extLst>
            </p:cNvPr>
            <p:cNvSpPr/>
            <p:nvPr/>
          </p:nvSpPr>
          <p:spPr>
            <a:xfrm>
              <a:off x="6274575" y="1716441"/>
              <a:ext cx="1144292" cy="903803"/>
            </a:xfrm>
            <a:prstGeom prst="round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112;p119">
              <a:extLst>
                <a:ext uri="{FF2B5EF4-FFF2-40B4-BE49-F238E27FC236}">
                  <a16:creationId xmlns:a16="http://schemas.microsoft.com/office/drawing/2014/main" id="{FC26E9EF-F6D4-641B-38D1-5700318D0139}"/>
                </a:ext>
              </a:extLst>
            </p:cNvPr>
            <p:cNvSpPr txBox="1"/>
            <p:nvPr/>
          </p:nvSpPr>
          <p:spPr>
            <a:xfrm flipH="1">
              <a:off x="5198092" y="2697435"/>
              <a:ext cx="969230" cy="187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05</a:t>
              </a: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" dirty="0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45" name="Google Shape;7112;p119">
              <a:extLst>
                <a:ext uri="{FF2B5EF4-FFF2-40B4-BE49-F238E27FC236}">
                  <a16:creationId xmlns:a16="http://schemas.microsoft.com/office/drawing/2014/main" id="{EC4CDFC7-DE70-287B-1781-6AB39DAEEF33}"/>
                </a:ext>
              </a:extLst>
            </p:cNvPr>
            <p:cNvSpPr txBox="1"/>
            <p:nvPr/>
          </p:nvSpPr>
          <p:spPr>
            <a:xfrm flipH="1">
              <a:off x="6340942" y="1827327"/>
              <a:ext cx="969230" cy="187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06</a:t>
              </a: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" dirty="0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46" name="Google Shape;7111;p119">
              <a:extLst>
                <a:ext uri="{FF2B5EF4-FFF2-40B4-BE49-F238E27FC236}">
                  <a16:creationId xmlns:a16="http://schemas.microsoft.com/office/drawing/2014/main" id="{D9CD5586-9FDA-376B-6CF5-C2086A46FBA7}"/>
                </a:ext>
              </a:extLst>
            </p:cNvPr>
            <p:cNvSpPr txBox="1"/>
            <p:nvPr/>
          </p:nvSpPr>
          <p:spPr>
            <a:xfrm flipH="1">
              <a:off x="5085449" y="2988440"/>
              <a:ext cx="1272170" cy="293582"/>
            </a:xfrm>
            <a:prstGeom prst="round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dirty="0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Reports</a:t>
              </a:r>
              <a:endParaRPr lang="en-GB" sz="15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" name="Google Shape;7111;p119">
              <a:extLst>
                <a:ext uri="{FF2B5EF4-FFF2-40B4-BE49-F238E27FC236}">
                  <a16:creationId xmlns:a16="http://schemas.microsoft.com/office/drawing/2014/main" id="{DEC98C2C-79A8-D0FE-E962-59CA21DCEFEF}"/>
                </a:ext>
              </a:extLst>
            </p:cNvPr>
            <p:cNvSpPr txBox="1"/>
            <p:nvPr/>
          </p:nvSpPr>
          <p:spPr>
            <a:xfrm flipH="1">
              <a:off x="6248590" y="2096195"/>
              <a:ext cx="1272170" cy="293582"/>
            </a:xfrm>
            <a:prstGeom prst="round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dirty="0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Dashboard</a:t>
              </a:r>
            </a:p>
          </p:txBody>
        </p:sp>
        <p:cxnSp>
          <p:nvCxnSpPr>
            <p:cNvPr id="48" name="Google Shape;7121;p119">
              <a:extLst>
                <a:ext uri="{FF2B5EF4-FFF2-40B4-BE49-F238E27FC236}">
                  <a16:creationId xmlns:a16="http://schemas.microsoft.com/office/drawing/2014/main" id="{F96A299B-143B-A606-DF6C-B8F8DD1FA4A6}"/>
                </a:ext>
              </a:extLst>
            </p:cNvPr>
            <p:cNvCxnSpPr>
              <a:cxnSpLocks/>
            </p:cNvCxnSpPr>
            <p:nvPr/>
          </p:nvCxnSpPr>
          <p:spPr>
            <a:xfrm>
              <a:off x="5135121" y="2168342"/>
              <a:ext cx="574489" cy="441534"/>
            </a:xfrm>
            <a:prstGeom prst="bentConnector2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7121;p119">
              <a:extLst>
                <a:ext uri="{FF2B5EF4-FFF2-40B4-BE49-F238E27FC236}">
                  <a16:creationId xmlns:a16="http://schemas.microsoft.com/office/drawing/2014/main" id="{19A23DD7-9AD8-E3EA-33DA-03C5A02F2B13}"/>
                </a:ext>
              </a:extLst>
            </p:cNvPr>
            <p:cNvCxnSpPr/>
            <p:nvPr/>
          </p:nvCxnSpPr>
          <p:spPr>
            <a:xfrm rot="10800000" flipH="1">
              <a:off x="6273913" y="2637191"/>
              <a:ext cx="572808" cy="452843"/>
            </a:xfrm>
            <a:prstGeom prst="bentConnector2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" name="Google Shape;7109;p119">
              <a:extLst>
                <a:ext uri="{FF2B5EF4-FFF2-40B4-BE49-F238E27FC236}">
                  <a16:creationId xmlns:a16="http://schemas.microsoft.com/office/drawing/2014/main" id="{58F61EE4-E9ED-FDD7-8A5B-B1F7651C6DAB}"/>
                </a:ext>
              </a:extLst>
            </p:cNvPr>
            <p:cNvSpPr/>
            <p:nvPr/>
          </p:nvSpPr>
          <p:spPr>
            <a:xfrm>
              <a:off x="7396272" y="2570609"/>
              <a:ext cx="1144800" cy="903803"/>
            </a:xfrm>
            <a:prstGeom prst="round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" name="Google Shape;7111;p119">
              <a:extLst>
                <a:ext uri="{FF2B5EF4-FFF2-40B4-BE49-F238E27FC236}">
                  <a16:creationId xmlns:a16="http://schemas.microsoft.com/office/drawing/2014/main" id="{0A672EDE-A4AB-F1A8-A1F0-72648DD8F45D}"/>
                </a:ext>
              </a:extLst>
            </p:cNvPr>
            <p:cNvSpPr txBox="1"/>
            <p:nvPr/>
          </p:nvSpPr>
          <p:spPr>
            <a:xfrm flipH="1">
              <a:off x="7352318" y="2892524"/>
              <a:ext cx="1272170" cy="293582"/>
            </a:xfrm>
            <a:prstGeom prst="round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dirty="0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Insights</a:t>
              </a:r>
              <a:endParaRPr lang="en-GB" sz="1500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" name="Google Shape;7112;p119">
              <a:extLst>
                <a:ext uri="{FF2B5EF4-FFF2-40B4-BE49-F238E27FC236}">
                  <a16:creationId xmlns:a16="http://schemas.microsoft.com/office/drawing/2014/main" id="{C3DFFAC1-66BC-8FD0-E464-3384DC973F41}"/>
                </a:ext>
              </a:extLst>
            </p:cNvPr>
            <p:cNvSpPr txBox="1"/>
            <p:nvPr/>
          </p:nvSpPr>
          <p:spPr>
            <a:xfrm flipH="1">
              <a:off x="7498556" y="2697434"/>
              <a:ext cx="969230" cy="187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07</a:t>
              </a: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" dirty="0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cxnSp>
          <p:nvCxnSpPr>
            <p:cNvPr id="5" name="Google Shape;7121;p119">
              <a:extLst>
                <a:ext uri="{FF2B5EF4-FFF2-40B4-BE49-F238E27FC236}">
                  <a16:creationId xmlns:a16="http://schemas.microsoft.com/office/drawing/2014/main" id="{C340B40C-F5DF-0B0B-570D-4490C908C5F3}"/>
                </a:ext>
              </a:extLst>
            </p:cNvPr>
            <p:cNvCxnSpPr>
              <a:cxnSpLocks/>
            </p:cNvCxnSpPr>
            <p:nvPr/>
          </p:nvCxnSpPr>
          <p:spPr>
            <a:xfrm>
              <a:off x="7425629" y="2125385"/>
              <a:ext cx="574489" cy="441534"/>
            </a:xfrm>
            <a:prstGeom prst="bentConnector2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p62"/>
          <p:cNvSpPr txBox="1">
            <a:spLocks noGrp="1"/>
          </p:cNvSpPr>
          <p:nvPr>
            <p:ph type="title"/>
          </p:nvPr>
        </p:nvSpPr>
        <p:spPr>
          <a:xfrm>
            <a:off x="635191" y="237881"/>
            <a:ext cx="4635900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/>
              <a:t>Data Cleaning</a:t>
            </a:r>
            <a:endParaRPr sz="3000" dirty="0"/>
          </a:p>
        </p:txBody>
      </p:sp>
      <p:sp>
        <p:nvSpPr>
          <p:cNvPr id="4" name="Google Shape;7118;p119">
            <a:extLst>
              <a:ext uri="{FF2B5EF4-FFF2-40B4-BE49-F238E27FC236}">
                <a16:creationId xmlns:a16="http://schemas.microsoft.com/office/drawing/2014/main" id="{B6FEE8C6-5910-5020-D1AE-52F5418A1F9A}"/>
              </a:ext>
            </a:extLst>
          </p:cNvPr>
          <p:cNvSpPr txBox="1"/>
          <p:nvPr/>
        </p:nvSpPr>
        <p:spPr>
          <a:xfrm flipH="1">
            <a:off x="-111508" y="23788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01</a:t>
            </a:r>
            <a:endParaRPr sz="3000"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FFBA27-CAA7-D958-FAED-2D409D24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350" y="1585411"/>
            <a:ext cx="5794055" cy="35104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DF1E93-2ACA-BA6D-F707-AF24F0268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090" y="16580"/>
            <a:ext cx="974096" cy="895540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EC69DC-60AA-B3E1-1EF8-5A11FD1F5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95" y="842934"/>
            <a:ext cx="3831731" cy="25854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05C2F92-2108-3F6D-75E7-926D2D2959D9}"/>
              </a:ext>
            </a:extLst>
          </p:cNvPr>
          <p:cNvSpPr/>
          <p:nvPr/>
        </p:nvSpPr>
        <p:spPr>
          <a:xfrm>
            <a:off x="3185160" y="1312889"/>
            <a:ext cx="631222" cy="2047531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621D19-24C5-B15E-5726-9FC966133958}"/>
              </a:ext>
            </a:extLst>
          </p:cNvPr>
          <p:cNvSpPr/>
          <p:nvPr/>
        </p:nvSpPr>
        <p:spPr>
          <a:xfrm>
            <a:off x="8102726" y="2418827"/>
            <a:ext cx="995719" cy="265372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348DA3-C22E-83E8-9903-83AEE2791488}"/>
              </a:ext>
            </a:extLst>
          </p:cNvPr>
          <p:cNvSpPr/>
          <p:nvPr/>
        </p:nvSpPr>
        <p:spPr>
          <a:xfrm>
            <a:off x="8106090" y="2425895"/>
            <a:ext cx="992355" cy="2646654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E17F139-551E-2720-1C86-00E027391C73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877286" y="1086394"/>
            <a:ext cx="2336092" cy="4990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6;p62">
            <a:extLst>
              <a:ext uri="{FF2B5EF4-FFF2-40B4-BE49-F238E27FC236}">
                <a16:creationId xmlns:a16="http://schemas.microsoft.com/office/drawing/2014/main" id="{C75362C9-63CE-AF79-4123-7216D95EB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747" y="107428"/>
            <a:ext cx="4635900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/>
              <a:t>Data Modelling </a:t>
            </a:r>
            <a:endParaRPr sz="3000" dirty="0"/>
          </a:p>
        </p:txBody>
      </p:sp>
      <p:sp>
        <p:nvSpPr>
          <p:cNvPr id="7" name="Google Shape;7118;p119">
            <a:extLst>
              <a:ext uri="{FF2B5EF4-FFF2-40B4-BE49-F238E27FC236}">
                <a16:creationId xmlns:a16="http://schemas.microsoft.com/office/drawing/2014/main" id="{DF4F61B3-D8D0-C6AA-8773-DF9CE5A9D7DE}"/>
              </a:ext>
            </a:extLst>
          </p:cNvPr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02</a:t>
            </a:r>
            <a:endParaRPr sz="3000"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0C0784-DD9B-7859-B8C2-602F57EC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090" y="16580"/>
            <a:ext cx="974096" cy="89554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892C1FF-BF36-3992-4F5F-8BB59116F03E}"/>
              </a:ext>
            </a:extLst>
          </p:cNvPr>
          <p:cNvGrpSpPr/>
          <p:nvPr/>
        </p:nvGrpSpPr>
        <p:grpSpPr>
          <a:xfrm>
            <a:off x="600287" y="912120"/>
            <a:ext cx="7943425" cy="3926580"/>
            <a:chOff x="600287" y="912120"/>
            <a:chExt cx="7943425" cy="392658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CAFC7D7-3CE9-A380-5B3D-0B744D739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287" y="912120"/>
              <a:ext cx="7943425" cy="392658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36D2BF-BFFB-B1C7-AC9F-0BF0B54A5D7D}"/>
                </a:ext>
              </a:extLst>
            </p:cNvPr>
            <p:cNvSpPr/>
            <p:nvPr/>
          </p:nvSpPr>
          <p:spPr>
            <a:xfrm>
              <a:off x="600287" y="912120"/>
              <a:ext cx="7943425" cy="392658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6;p62">
            <a:extLst>
              <a:ext uri="{FF2B5EF4-FFF2-40B4-BE49-F238E27FC236}">
                <a16:creationId xmlns:a16="http://schemas.microsoft.com/office/drawing/2014/main" id="{C75362C9-63CE-AF79-4123-7216D95EB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8847" y="116301"/>
            <a:ext cx="4635900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/>
              <a:t>Dax </a:t>
            </a:r>
            <a:endParaRPr sz="3000" dirty="0"/>
          </a:p>
        </p:txBody>
      </p:sp>
      <p:sp>
        <p:nvSpPr>
          <p:cNvPr id="7" name="Google Shape;7118;p119">
            <a:extLst>
              <a:ext uri="{FF2B5EF4-FFF2-40B4-BE49-F238E27FC236}">
                <a16:creationId xmlns:a16="http://schemas.microsoft.com/office/drawing/2014/main" id="{DF4F61B3-D8D0-C6AA-8773-DF9CE5A9D7DE}"/>
              </a:ext>
            </a:extLst>
          </p:cNvPr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03</a:t>
            </a:r>
            <a:endParaRPr sz="3000" b="1" dirty="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0C0784-DD9B-7859-B8C2-602F57EC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090" y="16580"/>
            <a:ext cx="974096" cy="89554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2F9F9C44-4A73-208E-486A-82895F33B3B5}"/>
              </a:ext>
            </a:extLst>
          </p:cNvPr>
          <p:cNvGrpSpPr/>
          <p:nvPr/>
        </p:nvGrpSpPr>
        <p:grpSpPr>
          <a:xfrm>
            <a:off x="396570" y="1179447"/>
            <a:ext cx="5275782" cy="242055"/>
            <a:chOff x="401558" y="933258"/>
            <a:chExt cx="5275782" cy="24205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4541D5-5B0C-462E-3AFF-095E08E26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1558" y="940253"/>
              <a:ext cx="5275782" cy="235060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05B1EA0-6457-F3D6-9B43-81E00EFFA456}"/>
                </a:ext>
              </a:extLst>
            </p:cNvPr>
            <p:cNvSpPr/>
            <p:nvPr/>
          </p:nvSpPr>
          <p:spPr>
            <a:xfrm>
              <a:off x="401558" y="933258"/>
              <a:ext cx="5274180" cy="22777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3BF205E-E29F-182D-E385-E8C7FD720EDA}"/>
              </a:ext>
            </a:extLst>
          </p:cNvPr>
          <p:cNvGrpSpPr/>
          <p:nvPr/>
        </p:nvGrpSpPr>
        <p:grpSpPr>
          <a:xfrm>
            <a:off x="396570" y="1638384"/>
            <a:ext cx="5274180" cy="236476"/>
            <a:chOff x="401558" y="1368588"/>
            <a:chExt cx="5274180" cy="236476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22ADB03-3239-9E9F-7273-AF685FC67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558" y="1368588"/>
              <a:ext cx="5274180" cy="235061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97524A1-4881-8E4F-DBEE-19A8C2A7E04E}"/>
                </a:ext>
              </a:extLst>
            </p:cNvPr>
            <p:cNvSpPr/>
            <p:nvPr/>
          </p:nvSpPr>
          <p:spPr>
            <a:xfrm>
              <a:off x="401558" y="1377291"/>
              <a:ext cx="5274180" cy="22777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74BB688-F05D-B996-2D26-A6576C850410}"/>
              </a:ext>
            </a:extLst>
          </p:cNvPr>
          <p:cNvGrpSpPr/>
          <p:nvPr/>
        </p:nvGrpSpPr>
        <p:grpSpPr>
          <a:xfrm>
            <a:off x="396570" y="2091742"/>
            <a:ext cx="5275783" cy="202848"/>
            <a:chOff x="375865" y="2315134"/>
            <a:chExt cx="5275783" cy="20284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A504033-7D05-4BBD-79EA-5941C96A1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7648" y="2315135"/>
              <a:ext cx="5274000" cy="202847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3C75E0D-8C67-CC24-9B92-46ADF623329D}"/>
                </a:ext>
              </a:extLst>
            </p:cNvPr>
            <p:cNvSpPr/>
            <p:nvPr/>
          </p:nvSpPr>
          <p:spPr>
            <a:xfrm>
              <a:off x="375865" y="2315134"/>
              <a:ext cx="5272218" cy="20284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410D994-2922-182B-7CA0-9D4B4AAEE958}"/>
              </a:ext>
            </a:extLst>
          </p:cNvPr>
          <p:cNvGrpSpPr/>
          <p:nvPr/>
        </p:nvGrpSpPr>
        <p:grpSpPr>
          <a:xfrm>
            <a:off x="396570" y="3872461"/>
            <a:ext cx="2181623" cy="945199"/>
            <a:chOff x="401558" y="3872461"/>
            <a:chExt cx="2181623" cy="94519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E284AD7-DD91-B3B9-10B4-F9AA8EA4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4944" y="3872461"/>
              <a:ext cx="2178237" cy="945199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6CDDC66-2258-E2A2-3D63-A430EEEB5152}"/>
                </a:ext>
              </a:extLst>
            </p:cNvPr>
            <p:cNvSpPr/>
            <p:nvPr/>
          </p:nvSpPr>
          <p:spPr>
            <a:xfrm>
              <a:off x="401558" y="3872461"/>
              <a:ext cx="2178237" cy="94519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CC2429F-2058-D5C0-98C6-1A5C42F82F5B}"/>
              </a:ext>
            </a:extLst>
          </p:cNvPr>
          <p:cNvGrpSpPr/>
          <p:nvPr/>
        </p:nvGrpSpPr>
        <p:grpSpPr>
          <a:xfrm>
            <a:off x="396570" y="2511472"/>
            <a:ext cx="5274000" cy="1144105"/>
            <a:chOff x="398172" y="2495124"/>
            <a:chExt cx="5357670" cy="1144105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AE9824C8-D657-7B14-8F4C-119BDCA13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8172" y="2495124"/>
              <a:ext cx="5357670" cy="1132984"/>
            </a:xfrm>
            <a:prstGeom prst="rect">
              <a:avLst/>
            </a:prstGeom>
          </p:spPr>
        </p:pic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168E98E-FBFB-D026-AE6F-066A22B90F8A}"/>
                </a:ext>
              </a:extLst>
            </p:cNvPr>
            <p:cNvSpPr/>
            <p:nvPr/>
          </p:nvSpPr>
          <p:spPr>
            <a:xfrm>
              <a:off x="401558" y="2506245"/>
              <a:ext cx="5354284" cy="11329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3D88FE5-EC8E-2923-2F37-98AAC66E9E46}"/>
              </a:ext>
            </a:extLst>
          </p:cNvPr>
          <p:cNvGrpSpPr/>
          <p:nvPr/>
        </p:nvGrpSpPr>
        <p:grpSpPr>
          <a:xfrm>
            <a:off x="6565809" y="912120"/>
            <a:ext cx="2004059" cy="4010401"/>
            <a:chOff x="6202681" y="912119"/>
            <a:chExt cx="1636464" cy="403689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7598CE7-D4AF-C8D5-392B-2B73833C8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25728" y="938967"/>
              <a:ext cx="1613416" cy="4010043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6DD380-568C-833A-44D6-8C1BD3D83B18}"/>
                </a:ext>
              </a:extLst>
            </p:cNvPr>
            <p:cNvSpPr/>
            <p:nvPr/>
          </p:nvSpPr>
          <p:spPr>
            <a:xfrm>
              <a:off x="6202681" y="912119"/>
              <a:ext cx="1636464" cy="403689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2750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86;p62">
            <a:extLst>
              <a:ext uri="{FF2B5EF4-FFF2-40B4-BE49-F238E27FC236}">
                <a16:creationId xmlns:a16="http://schemas.microsoft.com/office/drawing/2014/main" id="{C75362C9-63CE-AF79-4123-7216D95EB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747" y="107428"/>
            <a:ext cx="4635900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ym typeface="Bai Jamjuree"/>
              </a:rPr>
              <a:t>Visual</a:t>
            </a:r>
            <a:r>
              <a:rPr lang="en-GB" sz="3200" b="1" dirty="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GB" sz="3000" dirty="0">
                <a:sym typeface="Bai Jamjuree"/>
              </a:rPr>
              <a:t>Sample</a:t>
            </a:r>
            <a:endParaRPr lang="en-GB" sz="3000" dirty="0">
              <a:sym typeface="Lato"/>
            </a:endParaRPr>
          </a:p>
        </p:txBody>
      </p:sp>
      <p:sp>
        <p:nvSpPr>
          <p:cNvPr id="7" name="Google Shape;7118;p119">
            <a:extLst>
              <a:ext uri="{FF2B5EF4-FFF2-40B4-BE49-F238E27FC236}">
                <a16:creationId xmlns:a16="http://schemas.microsoft.com/office/drawing/2014/main" id="{DF4F61B3-D8D0-C6AA-8773-DF9CE5A9D7DE}"/>
              </a:ext>
            </a:extLst>
          </p:cNvPr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04</a:t>
            </a:r>
            <a:endParaRPr sz="3000" b="1" dirty="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0C0784-DD9B-7859-B8C2-602F57EC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090" y="16580"/>
            <a:ext cx="974096" cy="895540"/>
          </a:xfrm>
          <a:prstGeom prst="rect">
            <a:avLst/>
          </a:prstGeom>
        </p:spPr>
      </p:pic>
      <p:sp>
        <p:nvSpPr>
          <p:cNvPr id="4" name="Google Shape;258;p20">
            <a:extLst>
              <a:ext uri="{FF2B5EF4-FFF2-40B4-BE49-F238E27FC236}">
                <a16:creationId xmlns:a16="http://schemas.microsoft.com/office/drawing/2014/main" id="{57AA2F4B-F4C8-A3B1-4038-BE0D798C4B54}"/>
              </a:ext>
            </a:extLst>
          </p:cNvPr>
          <p:cNvSpPr txBox="1">
            <a:spLocks/>
          </p:cNvSpPr>
          <p:nvPr/>
        </p:nvSpPr>
        <p:spPr>
          <a:xfrm>
            <a:off x="842144" y="941471"/>
            <a:ext cx="1975637" cy="29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lnSpc>
                <a:spcPct val="90000"/>
              </a:lnSpc>
              <a:buClr>
                <a:schemeClr val="dk1"/>
              </a:buClr>
              <a:buSzPts val="1800"/>
            </a:pPr>
            <a:r>
              <a:rPr lang="en-US" sz="2000" dirty="0"/>
              <a:t>Pie Charts</a:t>
            </a:r>
            <a:endParaRPr lang="en-US" sz="1600" dirty="0"/>
          </a:p>
        </p:txBody>
      </p:sp>
      <p:sp>
        <p:nvSpPr>
          <p:cNvPr id="5" name="Google Shape;259;p20">
            <a:extLst>
              <a:ext uri="{FF2B5EF4-FFF2-40B4-BE49-F238E27FC236}">
                <a16:creationId xmlns:a16="http://schemas.microsoft.com/office/drawing/2014/main" id="{01627CF8-2B6F-448F-E9E8-4664F6C0C0F0}"/>
              </a:ext>
            </a:extLst>
          </p:cNvPr>
          <p:cNvSpPr txBox="1">
            <a:spLocks/>
          </p:cNvSpPr>
          <p:nvPr/>
        </p:nvSpPr>
        <p:spPr>
          <a:xfrm>
            <a:off x="842144" y="1158175"/>
            <a:ext cx="4635901" cy="653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114300" indent="0" algn="l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US" sz="1600" dirty="0"/>
              <a:t>Used to show the percentage of each part of the total data quickly and easily.</a:t>
            </a:r>
          </a:p>
        </p:txBody>
      </p:sp>
      <p:sp>
        <p:nvSpPr>
          <p:cNvPr id="2" name="Google Shape;170;p9">
            <a:extLst>
              <a:ext uri="{FF2B5EF4-FFF2-40B4-BE49-F238E27FC236}">
                <a16:creationId xmlns:a16="http://schemas.microsoft.com/office/drawing/2014/main" id="{84A199D9-53C8-B961-E75C-98D9B114D96E}"/>
              </a:ext>
            </a:extLst>
          </p:cNvPr>
          <p:cNvSpPr txBox="1">
            <a:spLocks/>
          </p:cNvSpPr>
          <p:nvPr/>
        </p:nvSpPr>
        <p:spPr>
          <a:xfrm>
            <a:off x="842144" y="2031517"/>
            <a:ext cx="1661160" cy="32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lnSpc>
                <a:spcPct val="90000"/>
              </a:lnSpc>
              <a:buClr>
                <a:schemeClr val="dk1"/>
              </a:buClr>
              <a:buSzPts val="1800"/>
            </a:pPr>
            <a:r>
              <a:rPr lang="tr-TR" sz="2000" dirty="0"/>
              <a:t>Column</a:t>
            </a:r>
            <a:r>
              <a:rPr lang="en-US" sz="2000" dirty="0"/>
              <a:t> Chart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E8915C-4E42-66F5-696E-FB4EC04B8B64}"/>
              </a:ext>
            </a:extLst>
          </p:cNvPr>
          <p:cNvSpPr txBox="1"/>
          <p:nvPr/>
        </p:nvSpPr>
        <p:spPr>
          <a:xfrm>
            <a:off x="809678" y="2380853"/>
            <a:ext cx="47672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lt1"/>
                </a:solidFill>
                <a:latin typeface="Bai Jamjuree"/>
                <a:cs typeface="Bai Jamjuree"/>
              </a:rPr>
              <a:t>Used to compare different values and </a:t>
            </a:r>
            <a:r>
              <a:rPr lang="en-US" sz="1600" dirty="0">
                <a:solidFill>
                  <a:schemeClr val="lt1"/>
                </a:solidFill>
                <a:latin typeface="Bai Jamjuree"/>
                <a:cs typeface="Bai Jamjuree"/>
                <a:sym typeface="Bai Jamjuree"/>
              </a:rPr>
              <a:t>quantities</a:t>
            </a:r>
          </a:p>
          <a:p>
            <a:r>
              <a:rPr lang="en-US" sz="1600" dirty="0">
                <a:solidFill>
                  <a:schemeClr val="lt1"/>
                </a:solidFill>
                <a:latin typeface="Bai Jamjuree"/>
                <a:cs typeface="Bai Jamjuree"/>
              </a:rPr>
              <a:t> clearly and easily.</a:t>
            </a:r>
          </a:p>
        </p:txBody>
      </p:sp>
      <p:sp>
        <p:nvSpPr>
          <p:cNvPr id="8" name="Google Shape;276;p22">
            <a:extLst>
              <a:ext uri="{FF2B5EF4-FFF2-40B4-BE49-F238E27FC236}">
                <a16:creationId xmlns:a16="http://schemas.microsoft.com/office/drawing/2014/main" id="{C2F0543B-B6FB-1024-967D-E352A201399D}"/>
              </a:ext>
            </a:extLst>
          </p:cNvPr>
          <p:cNvSpPr txBox="1">
            <a:spLocks/>
          </p:cNvSpPr>
          <p:nvPr/>
        </p:nvSpPr>
        <p:spPr>
          <a:xfrm>
            <a:off x="809678" y="3340436"/>
            <a:ext cx="1914419" cy="388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lnSpc>
                <a:spcPct val="90000"/>
              </a:lnSpc>
              <a:buClr>
                <a:schemeClr val="dk1"/>
              </a:buClr>
              <a:buSzPts val="1800"/>
            </a:pPr>
            <a:r>
              <a:rPr lang="en-US" sz="2000" dirty="0"/>
              <a:t>Area Graph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2FD2F-9DBF-4D48-88AD-A59CD53FE79C}"/>
              </a:ext>
            </a:extLst>
          </p:cNvPr>
          <p:cNvSpPr txBox="1"/>
          <p:nvPr/>
        </p:nvSpPr>
        <p:spPr>
          <a:xfrm>
            <a:off x="809678" y="3818942"/>
            <a:ext cx="4965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>
                <a:solidFill>
                  <a:schemeClr val="lt1"/>
                </a:solidFill>
                <a:latin typeface="Bai Jamjuree"/>
                <a:cs typeface="Bai Jamjuree"/>
              </a:defRPr>
            </a:lvl1pPr>
          </a:lstStyle>
          <a:p>
            <a:r>
              <a:rPr lang="en-US" dirty="0"/>
              <a:t>Used to show data trends over time while highlighting the total volume of the area.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A36A7A9-D3A0-1545-206F-DEE7116F75D0}"/>
              </a:ext>
            </a:extLst>
          </p:cNvPr>
          <p:cNvGrpSpPr/>
          <p:nvPr/>
        </p:nvGrpSpPr>
        <p:grpSpPr>
          <a:xfrm>
            <a:off x="6201834" y="1960283"/>
            <a:ext cx="1840957" cy="934111"/>
            <a:chOff x="6066902" y="2031517"/>
            <a:chExt cx="1840957" cy="93411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7DADCE7-ECB5-76BB-27C4-3115A79E7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66902" y="2047529"/>
              <a:ext cx="1840957" cy="90208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F104175-24BE-4007-F151-4F944047C742}"/>
                </a:ext>
              </a:extLst>
            </p:cNvPr>
            <p:cNvSpPr/>
            <p:nvPr/>
          </p:nvSpPr>
          <p:spPr>
            <a:xfrm>
              <a:off x="6066902" y="2031517"/>
              <a:ext cx="1840957" cy="934111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CB5AEF-968A-31CB-9EE2-23BA8875B842}"/>
              </a:ext>
            </a:extLst>
          </p:cNvPr>
          <p:cNvGrpSpPr/>
          <p:nvPr/>
        </p:nvGrpSpPr>
        <p:grpSpPr>
          <a:xfrm>
            <a:off x="6201834" y="788480"/>
            <a:ext cx="1641888" cy="984561"/>
            <a:chOff x="6138133" y="589777"/>
            <a:chExt cx="1757107" cy="107138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F463B2-D25A-F4B1-7614-B295F9F698AF}"/>
                </a:ext>
              </a:extLst>
            </p:cNvPr>
            <p:cNvSpPr/>
            <p:nvPr/>
          </p:nvSpPr>
          <p:spPr>
            <a:xfrm>
              <a:off x="6138133" y="589777"/>
              <a:ext cx="1757107" cy="10713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142F66A-F5E4-5808-BCC3-58BBE0E55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54247" y="605976"/>
              <a:ext cx="1724878" cy="105518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E6E980-C122-0F18-B00C-7FEACC8AE198}"/>
              </a:ext>
            </a:extLst>
          </p:cNvPr>
          <p:cNvGrpSpPr/>
          <p:nvPr/>
        </p:nvGrpSpPr>
        <p:grpSpPr>
          <a:xfrm>
            <a:off x="6367750" y="3081636"/>
            <a:ext cx="1460913" cy="1816566"/>
            <a:chOff x="6367750" y="3081636"/>
            <a:chExt cx="1460913" cy="181656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6175BDF-0590-7899-2127-348D69E6A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67750" y="3081636"/>
              <a:ext cx="1460913" cy="181656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BC650E-1999-ED30-5452-2BECCC843F94}"/>
                </a:ext>
              </a:extLst>
            </p:cNvPr>
            <p:cNvSpPr/>
            <p:nvPr/>
          </p:nvSpPr>
          <p:spPr>
            <a:xfrm>
              <a:off x="6367750" y="3081637"/>
              <a:ext cx="1460913" cy="181656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505509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Google Shape;4107;p96"/>
          <p:cNvSpPr txBox="1">
            <a:spLocks noGrp="1"/>
          </p:cNvSpPr>
          <p:nvPr>
            <p:ph type="title"/>
          </p:nvPr>
        </p:nvSpPr>
        <p:spPr>
          <a:xfrm>
            <a:off x="730740" y="126480"/>
            <a:ext cx="668352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GB" b="1" dirty="0"/>
              <a:t>HR </a:t>
            </a:r>
            <a:r>
              <a:rPr lang="tr-TR" b="1" dirty="0"/>
              <a:t>Reports </a:t>
            </a:r>
            <a:r>
              <a:rPr lang="en-GB" b="1" dirty="0"/>
              <a:t>&amp; Dashboard</a:t>
            </a:r>
            <a:endParaRPr dirty="0"/>
          </a:p>
        </p:txBody>
      </p:sp>
      <p:sp>
        <p:nvSpPr>
          <p:cNvPr id="2" name="Google Shape;7118;p119">
            <a:extLst>
              <a:ext uri="{FF2B5EF4-FFF2-40B4-BE49-F238E27FC236}">
                <a16:creationId xmlns:a16="http://schemas.microsoft.com/office/drawing/2014/main" id="{5928D426-D197-9B33-34F0-139A3847FD3D}"/>
              </a:ext>
            </a:extLst>
          </p:cNvPr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06</a:t>
            </a:r>
            <a:endParaRPr sz="3000" b="1" dirty="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" descr="Add-in content for Microsoft Power BI.">
                <a:extLst>
                  <a:ext uri="{FF2B5EF4-FFF2-40B4-BE49-F238E27FC236}">
                    <a16:creationId xmlns:a16="http://schemas.microsoft.com/office/drawing/2014/main" id="{6B43E8BD-6D71-DFF5-F886-CE8866E12B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8162214"/>
                  </p:ext>
                </p:extLst>
              </p:nvPr>
            </p:nvGraphicFramePr>
            <p:xfrm>
              <a:off x="1083360" y="701040"/>
              <a:ext cx="6818579" cy="411804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Add-in" descr="Add-in content for Microsoft Power BI.">
                <a:extLst>
                  <a:ext uri="{FF2B5EF4-FFF2-40B4-BE49-F238E27FC236}">
                    <a16:creationId xmlns:a16="http://schemas.microsoft.com/office/drawing/2014/main" id="{6B43E8BD-6D71-DFF5-F886-CE8866E12B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3360" y="701040"/>
                <a:ext cx="6818579" cy="41180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E52DD05-60DB-3313-BE7E-5EE02B94D255}"/>
              </a:ext>
            </a:extLst>
          </p:cNvPr>
          <p:cNvSpPr/>
          <p:nvPr/>
        </p:nvSpPr>
        <p:spPr>
          <a:xfrm>
            <a:off x="1083361" y="701040"/>
            <a:ext cx="6818579" cy="411804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1" name="Google Shape;4641;p108"/>
          <p:cNvSpPr txBox="1">
            <a:spLocks noGrp="1"/>
          </p:cNvSpPr>
          <p:nvPr>
            <p:ph type="title"/>
          </p:nvPr>
        </p:nvSpPr>
        <p:spPr>
          <a:xfrm>
            <a:off x="688898" y="12648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Ins</a:t>
            </a:r>
            <a:r>
              <a:rPr lang="en-GB" dirty="0" err="1"/>
              <a:t>ights</a:t>
            </a:r>
            <a:r>
              <a:rPr lang="en-GB" dirty="0"/>
              <a:t> </a:t>
            </a:r>
            <a:endParaRPr dirty="0"/>
          </a:p>
        </p:txBody>
      </p:sp>
      <p:grpSp>
        <p:nvGrpSpPr>
          <p:cNvPr id="4672" name="Google Shape;4672;p108"/>
          <p:cNvGrpSpPr/>
          <p:nvPr/>
        </p:nvGrpSpPr>
        <p:grpSpPr>
          <a:xfrm>
            <a:off x="4376189" y="2740415"/>
            <a:ext cx="338418" cy="338418"/>
            <a:chOff x="5283806" y="4129767"/>
            <a:chExt cx="338418" cy="338418"/>
          </a:xfrm>
        </p:grpSpPr>
        <p:sp>
          <p:nvSpPr>
            <p:cNvPr id="4673" name="Google Shape;4673;p108"/>
            <p:cNvSpPr/>
            <p:nvPr/>
          </p:nvSpPr>
          <p:spPr>
            <a:xfrm>
              <a:off x="5283806" y="4129767"/>
              <a:ext cx="338418" cy="338418"/>
            </a:xfrm>
            <a:custGeom>
              <a:avLst/>
              <a:gdLst/>
              <a:ahLst/>
              <a:cxnLst/>
              <a:rect l="l" t="t" r="r" b="b"/>
              <a:pathLst>
                <a:path w="11503" h="11503" extrusionOk="0">
                  <a:moveTo>
                    <a:pt x="7454" y="691"/>
                  </a:moveTo>
                  <a:lnTo>
                    <a:pt x="7454" y="2000"/>
                  </a:lnTo>
                  <a:lnTo>
                    <a:pt x="5406" y="2000"/>
                  </a:lnTo>
                  <a:lnTo>
                    <a:pt x="5406" y="691"/>
                  </a:lnTo>
                  <a:close/>
                  <a:moveTo>
                    <a:pt x="10860" y="5096"/>
                  </a:moveTo>
                  <a:lnTo>
                    <a:pt x="10860" y="6406"/>
                  </a:lnTo>
                  <a:lnTo>
                    <a:pt x="8812" y="6406"/>
                  </a:lnTo>
                  <a:lnTo>
                    <a:pt x="8812" y="5096"/>
                  </a:lnTo>
                  <a:close/>
                  <a:moveTo>
                    <a:pt x="3978" y="4668"/>
                  </a:moveTo>
                  <a:lnTo>
                    <a:pt x="3978" y="6835"/>
                  </a:lnTo>
                  <a:lnTo>
                    <a:pt x="715" y="6835"/>
                  </a:lnTo>
                  <a:lnTo>
                    <a:pt x="715" y="4668"/>
                  </a:lnTo>
                  <a:close/>
                  <a:moveTo>
                    <a:pt x="7454" y="9550"/>
                  </a:moveTo>
                  <a:lnTo>
                    <a:pt x="7454" y="10859"/>
                  </a:lnTo>
                  <a:lnTo>
                    <a:pt x="5406" y="10859"/>
                  </a:lnTo>
                  <a:lnTo>
                    <a:pt x="5406" y="9550"/>
                  </a:lnTo>
                  <a:close/>
                  <a:moveTo>
                    <a:pt x="4716" y="0"/>
                  </a:moveTo>
                  <a:lnTo>
                    <a:pt x="4716" y="2643"/>
                  </a:lnTo>
                  <a:lnTo>
                    <a:pt x="6073" y="2643"/>
                  </a:lnTo>
                  <a:lnTo>
                    <a:pt x="6073" y="3334"/>
                  </a:lnTo>
                  <a:cubicBezTo>
                    <a:pt x="6073" y="3715"/>
                    <a:pt x="5764" y="4025"/>
                    <a:pt x="5383" y="4025"/>
                  </a:cubicBezTo>
                  <a:lnTo>
                    <a:pt x="1" y="4025"/>
                  </a:lnTo>
                  <a:lnTo>
                    <a:pt x="1" y="7525"/>
                  </a:lnTo>
                  <a:lnTo>
                    <a:pt x="5383" y="7525"/>
                  </a:lnTo>
                  <a:cubicBezTo>
                    <a:pt x="5764" y="7525"/>
                    <a:pt x="6073" y="7835"/>
                    <a:pt x="6073" y="8216"/>
                  </a:cubicBezTo>
                  <a:lnTo>
                    <a:pt x="6073" y="8883"/>
                  </a:lnTo>
                  <a:lnTo>
                    <a:pt x="4716" y="8883"/>
                  </a:lnTo>
                  <a:lnTo>
                    <a:pt x="4716" y="11502"/>
                  </a:lnTo>
                  <a:lnTo>
                    <a:pt x="8121" y="11502"/>
                  </a:lnTo>
                  <a:lnTo>
                    <a:pt x="8121" y="8883"/>
                  </a:lnTo>
                  <a:lnTo>
                    <a:pt x="6740" y="8883"/>
                  </a:lnTo>
                  <a:lnTo>
                    <a:pt x="6740" y="8216"/>
                  </a:lnTo>
                  <a:cubicBezTo>
                    <a:pt x="6740" y="7478"/>
                    <a:pt x="6145" y="6882"/>
                    <a:pt x="5406" y="6882"/>
                  </a:cubicBezTo>
                  <a:lnTo>
                    <a:pt x="4621" y="6882"/>
                  </a:lnTo>
                  <a:lnTo>
                    <a:pt x="4621" y="6097"/>
                  </a:lnTo>
                  <a:lnTo>
                    <a:pt x="8121" y="6097"/>
                  </a:lnTo>
                  <a:lnTo>
                    <a:pt x="8121" y="7073"/>
                  </a:lnTo>
                  <a:lnTo>
                    <a:pt x="11503" y="7073"/>
                  </a:lnTo>
                  <a:lnTo>
                    <a:pt x="11503" y="4430"/>
                  </a:lnTo>
                  <a:lnTo>
                    <a:pt x="8121" y="4430"/>
                  </a:lnTo>
                  <a:lnTo>
                    <a:pt x="8121" y="5454"/>
                  </a:lnTo>
                  <a:lnTo>
                    <a:pt x="4621" y="5454"/>
                  </a:lnTo>
                  <a:lnTo>
                    <a:pt x="4621" y="4668"/>
                  </a:lnTo>
                  <a:lnTo>
                    <a:pt x="5406" y="4668"/>
                  </a:lnTo>
                  <a:cubicBezTo>
                    <a:pt x="6145" y="4668"/>
                    <a:pt x="6740" y="4072"/>
                    <a:pt x="6740" y="3334"/>
                  </a:cubicBezTo>
                  <a:lnTo>
                    <a:pt x="6740" y="2643"/>
                  </a:lnTo>
                  <a:lnTo>
                    <a:pt x="8121" y="2643"/>
                  </a:lnTo>
                  <a:lnTo>
                    <a:pt x="81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3F6F7"/>
                </a:solidFill>
              </a:endParaRPr>
            </a:p>
          </p:txBody>
        </p:sp>
        <p:grpSp>
          <p:nvGrpSpPr>
            <p:cNvPr id="4674" name="Google Shape;4674;p108"/>
            <p:cNvGrpSpPr/>
            <p:nvPr/>
          </p:nvGrpSpPr>
          <p:grpSpPr>
            <a:xfrm>
              <a:off x="5323051" y="4290192"/>
              <a:ext cx="59575" cy="19653"/>
              <a:chOff x="5323051" y="4290192"/>
              <a:chExt cx="59575" cy="19653"/>
            </a:xfrm>
          </p:grpSpPr>
          <p:sp>
            <p:nvSpPr>
              <p:cNvPr id="4675" name="Google Shape;4675;p108"/>
              <p:cNvSpPr/>
              <p:nvPr/>
            </p:nvSpPr>
            <p:spPr>
              <a:xfrm>
                <a:off x="5323051" y="4290192"/>
                <a:ext cx="20329" cy="19653"/>
              </a:xfrm>
              <a:custGeom>
                <a:avLst/>
                <a:gdLst/>
                <a:ahLst/>
                <a:cxnLst/>
                <a:rect l="l" t="t" r="r" b="b"/>
                <a:pathLst>
                  <a:path w="691" h="668" extrusionOk="0">
                    <a:moveTo>
                      <a:pt x="0" y="1"/>
                    </a:moveTo>
                    <a:lnTo>
                      <a:pt x="0" y="667"/>
                    </a:lnTo>
                    <a:lnTo>
                      <a:pt x="691" y="667"/>
                    </a:lnTo>
                    <a:lnTo>
                      <a:pt x="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3F6F7"/>
                  </a:solidFill>
                </a:endParaRPr>
              </a:p>
            </p:txBody>
          </p:sp>
          <p:sp>
            <p:nvSpPr>
              <p:cNvPr id="4676" name="Google Shape;4676;p108"/>
              <p:cNvSpPr/>
              <p:nvPr/>
            </p:nvSpPr>
            <p:spPr>
              <a:xfrm>
                <a:off x="5362268" y="4290192"/>
                <a:ext cx="20359" cy="19653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68" extrusionOk="0">
                    <a:moveTo>
                      <a:pt x="1" y="1"/>
                    </a:moveTo>
                    <a:lnTo>
                      <a:pt x="1" y="667"/>
                    </a:lnTo>
                    <a:lnTo>
                      <a:pt x="691" y="667"/>
                    </a:lnTo>
                    <a:lnTo>
                      <a:pt x="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3F6F7"/>
                  </a:solidFill>
                </a:endParaRPr>
              </a:p>
            </p:txBody>
          </p:sp>
        </p:grpSp>
      </p:grpSp>
      <p:sp>
        <p:nvSpPr>
          <p:cNvPr id="2" name="Google Shape;7118;p119">
            <a:extLst>
              <a:ext uri="{FF2B5EF4-FFF2-40B4-BE49-F238E27FC236}">
                <a16:creationId xmlns:a16="http://schemas.microsoft.com/office/drawing/2014/main" id="{75574038-F2B9-4196-FC60-4E6A495EB29E}"/>
              </a:ext>
            </a:extLst>
          </p:cNvPr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</a:t>
            </a:r>
            <a:r>
              <a:rPr lang="ar-EG" sz="3000" dirty="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7</a:t>
            </a:r>
            <a:endParaRPr sz="3000" b="1" dirty="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E99A3D4-507E-7F85-68CA-8147F51C0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604134"/>
              </p:ext>
            </p:extLst>
          </p:nvPr>
        </p:nvGraphicFramePr>
        <p:xfrm>
          <a:off x="749722" y="794734"/>
          <a:ext cx="7777059" cy="3891361"/>
        </p:xfrm>
        <a:graphic>
          <a:graphicData uri="http://schemas.openxmlformats.org/drawingml/2006/table">
            <a:tbl>
              <a:tblPr>
                <a:tableStyleId>{25B6D869-6EFF-4D19-A521-3EE09C8FB971}</a:tableStyleId>
              </a:tblPr>
              <a:tblGrid>
                <a:gridCol w="2592353">
                  <a:extLst>
                    <a:ext uri="{9D8B030D-6E8A-4147-A177-3AD203B41FA5}">
                      <a16:colId xmlns:a16="http://schemas.microsoft.com/office/drawing/2014/main" val="4289653441"/>
                    </a:ext>
                  </a:extLst>
                </a:gridCol>
                <a:gridCol w="2592353">
                  <a:extLst>
                    <a:ext uri="{9D8B030D-6E8A-4147-A177-3AD203B41FA5}">
                      <a16:colId xmlns:a16="http://schemas.microsoft.com/office/drawing/2014/main" val="1889878903"/>
                    </a:ext>
                  </a:extLst>
                </a:gridCol>
                <a:gridCol w="2592353">
                  <a:extLst>
                    <a:ext uri="{9D8B030D-6E8A-4147-A177-3AD203B41FA5}">
                      <a16:colId xmlns:a16="http://schemas.microsoft.com/office/drawing/2014/main" val="2775128127"/>
                    </a:ext>
                  </a:extLst>
                </a:gridCol>
              </a:tblGrid>
              <a:tr h="237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 dirty="0">
                          <a:solidFill>
                            <a:schemeClr val="bg1"/>
                          </a:solidFill>
                        </a:rPr>
                        <a:t>Insight Area</a:t>
                      </a:r>
                      <a:endParaRPr lang="en-GB" sz="900" dirty="0">
                        <a:solidFill>
                          <a:schemeClr val="bg1"/>
                        </a:solidFill>
                      </a:endParaRP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>
                          <a:solidFill>
                            <a:schemeClr val="bg1"/>
                          </a:solidFill>
                        </a:rPr>
                        <a:t>Key Finding</a:t>
                      </a:r>
                      <a:endParaRPr lang="en-GB" sz="900">
                        <a:solidFill>
                          <a:schemeClr val="bg1"/>
                        </a:solidFill>
                      </a:endParaRP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>
                          <a:solidFill>
                            <a:schemeClr val="bg1"/>
                          </a:solidFill>
                        </a:rPr>
                        <a:t>Business Impact / Recommendation</a:t>
                      </a:r>
                      <a:endParaRPr lang="en-GB" sz="900">
                        <a:solidFill>
                          <a:schemeClr val="bg1"/>
                        </a:solidFill>
                      </a:endParaRP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858634624"/>
                  </a:ext>
                </a:extLst>
              </a:tr>
              <a:tr h="549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Employee Satisfaction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Most employees fall within the </a:t>
                      </a:r>
                      <a:r>
                        <a:rPr lang="en-GB" sz="900" b="1">
                          <a:solidFill>
                            <a:schemeClr val="bg1"/>
                          </a:solidFill>
                        </a:rPr>
                        <a:t>High</a:t>
                      </a: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 and </a:t>
                      </a:r>
                      <a:r>
                        <a:rPr lang="en-GB" sz="900" b="1">
                          <a:solidFill>
                            <a:schemeClr val="bg1"/>
                          </a:solidFill>
                        </a:rPr>
                        <a:t>Very High</a:t>
                      </a: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 satisfaction categories, indicating a generally engaged workforce.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Maintain current engagement initiatives while focusing on roles or departments with lower satisfaction levels.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2330852333"/>
                  </a:ext>
                </a:extLst>
              </a:tr>
              <a:tr h="549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Work-Life Balance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Poor work-life balance is strongly associated with higher attrition, particularly among employees working overtime.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Introduce workload balancing, flexible work arrangements, and overtime management policies.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2326652812"/>
                  </a:ext>
                </a:extLst>
              </a:tr>
              <a:tr h="445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Training Effectiveness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Employees who participate in more training opportunities tend to receive higher manager ratings.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Continue investing in learning and development programs to improve performance and employee growth.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238888016"/>
                  </a:ext>
                </a:extLst>
              </a:tr>
              <a:tr h="654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Career Growth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Employees with longer periods in the same role or extended time since their last promotion show increased disengagement and turnover risk.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Review promotion pathways and create clearer career advancement opportunities.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138030764"/>
                  </a:ext>
                </a:extLst>
              </a:tr>
              <a:tr h="445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Manager Effectiveness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Lower manager ratings often coincide with lower relationship satisfaction and higher employee turnover.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Prioritize leadership development, coaching, and manager effectiveness programs.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963786431"/>
                  </a:ext>
                </a:extLst>
              </a:tr>
              <a:tr h="549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Compensation Progression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Salary growth tends to slow after several years of tenure, potentially creating a "loyalty penalty" for long-serving employees.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Conduct periodic salary reviews to ensure experienced employees remain competitively compensated.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1085579030"/>
                  </a:ext>
                </a:extLst>
              </a:tr>
              <a:tr h="445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Pay Equity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solidFill>
                            <a:schemeClr val="bg1"/>
                          </a:solidFill>
                        </a:rPr>
                        <a:t>Salary differences between genders within the same department may indicate potential pay equity concerns.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Perform regular pay equity audits to ensure fair and equitable compensation practices.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19522278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0" name="Google Shape;7420;p123"/>
          <p:cNvSpPr txBox="1">
            <a:spLocks noGrp="1"/>
          </p:cNvSpPr>
          <p:nvPr>
            <p:ph type="title"/>
          </p:nvPr>
        </p:nvSpPr>
        <p:spPr>
          <a:xfrm>
            <a:off x="2093623" y="1578566"/>
            <a:ext cx="4956754" cy="1245945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Thank You</a:t>
            </a:r>
            <a:endParaRPr sz="7200" dirty="0"/>
          </a:p>
        </p:txBody>
      </p:sp>
      <p:pic>
        <p:nvPicPr>
          <p:cNvPr id="2050" name="Picture 2" descr="Github White Icon SVG Vector &amp; PNG Free Download | UXWing">
            <a:extLst>
              <a:ext uri="{FF2B5EF4-FFF2-40B4-BE49-F238E27FC236}">
                <a16:creationId xmlns:a16="http://schemas.microsoft.com/office/drawing/2014/main" id="{C0A447A3-EA5C-C12D-BC82-26F114B25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47" y="3872725"/>
            <a:ext cx="683941" cy="683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7420;p123">
            <a:hlinkClick r:id="rId4"/>
            <a:extLst>
              <a:ext uri="{FF2B5EF4-FFF2-40B4-BE49-F238E27FC236}">
                <a16:creationId xmlns:a16="http://schemas.microsoft.com/office/drawing/2014/main" id="{B1C87E22-5AAF-74A7-A3EF-04688987E2CD}"/>
              </a:ext>
            </a:extLst>
          </p:cNvPr>
          <p:cNvSpPr txBox="1">
            <a:spLocks/>
          </p:cNvSpPr>
          <p:nvPr/>
        </p:nvSpPr>
        <p:spPr>
          <a:xfrm>
            <a:off x="1476588" y="4072720"/>
            <a:ext cx="2013743" cy="409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rPr lang="en-GB" sz="2000" dirty="0"/>
              <a:t>GitHub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0" grpId="0"/>
    </p:bldLst>
  </p:timing>
</p:sld>
</file>

<file path=ppt/theme/theme1.xml><?xml version="1.0" encoding="utf-8"?>
<a:theme xmlns:a="http://schemas.openxmlformats.org/drawingml/2006/main" name="Data Science Project Proposal XL by Slidesgo">
  <a:themeElements>
    <a:clrScheme name="Simple Light">
      <a:dk1>
        <a:srgbClr val="0E0E0E"/>
      </a:dk1>
      <a:lt1>
        <a:srgbClr val="FFFFFF"/>
      </a:lt1>
      <a:dk2>
        <a:srgbClr val="72F49A"/>
      </a:dk2>
      <a:lt2>
        <a:srgbClr val="47A5F3"/>
      </a:lt2>
      <a:accent1>
        <a:srgbClr val="F341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webextension1.xml><?xml version="1.0" encoding="utf-8"?>
<we:webextension xmlns:we="http://schemas.microsoft.com/office/webextensions/webextension/2010/11" id="{49B6825E-0DA4-42A5-B2D0-DDE80B2198EE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333333&quot;"/>
    <we:property name="bookmark" value="&quot;H4sIAAAAAAAAA91ZUU/jOBD+K1Wke0Mrx45jhzco3O2dlhOCFdLpxMPYnpTspknluBy9Ff/9JkmB0nIUKOyWfWrjccbffPN5Mk6+Ra5oJiXM/oQxRrvRfl1/HYP/OoijnajqxzQYxpjSKASTOs4cE5ys9SQUddVEu9+iAH6E4axoplC2jmjw7/OdCMryGEbtVQ5lgzvRBH1TV1AW/2I/mUzBT/F6J8KrSVl7aF2eBgjYur2k6XRNEOIPglYEG4pLPEUb+lGwSWqNBTQmdsY5NLGkaU0/oUP24JTWdbf8sK4CFBUt046RHa3IGQOWJUwymSnRjjdFNSrngO/u/TybtOQUY4qwZcN8oWVbP9fXFI6Q0kmIMxUzrbXQ0mi21lfAq2Dqq1VvhrvEZnmOVhGyVGWAuNZbcwGTB5DJ1GVCSJ4xJnSWSMni9VFCx+j+NAQifsWlFcYkMWcJA6c4t9YptaFLninNTSYdcsgEQZVpvKFLKfPcJlqlSSITlkgHan1K1qBMdZwrwWIGJgXhrAG9ocsUdCK1yRnRaTOrUSawKcpEKqs1064lMkuV5cmmLm1OghYa4kShzFwa606QeVGG+W4ys8OriadCQOWhd7nnLqGy6KJut3ts+s39LTpCaKa+c3B4z3BaT73FE8w7UxWKMGuhleVg3N/SRC2aY19TZelsn+sA5eBwTMVkhnPzRf3P0CPVFBftsutzGnk0cgve3Y+YLrxDvz/rojko/E0F4jtLgN80EoLeaY7JPM0MMsNSoZKUabEV1O9RuaZaODiFEvzsHTO/EkhPvHAKkSPSzhRp+0/ydDuID8EXLS2DE6J68Mt7pn41lJ58Y1OuGaZpqqiEKS3F1qh+9GHwR21ILaFo8r5svucM/E88fRocTxNnaQPwzIkMFNdCrk3DkDgY1b6wFPVyJoZ1OR1XTwX+G1ZEyDLkhdH7nO+sV8LeaORxBGF+ebgBuJtSvQzvZvz3g87y67Sap1G+QCWurqZheAE+vFQrPzji6/ObPp5u+LLQqc9V0gfwqrI471sWkTjIOTLFkFpey5iG7yjdA5xQ0sZYhWWc7r5lGyV8W5aX8sleUuc6RNsu4UcifgsFP1EdvZLjPMvjTOeS0WNQKUgMj7+jkunhcFKXK4wtDj9bw1vVhhrwG8nzbVvR1xff2oT2soOMpyhjFkuDMR35OGZ6K1qwY/Q5MdG1jFsgP+qfjqCirPkWEQntJRocwXT5tdKPawdXwumbQUtnIKtyZaxT3KHgDOzLBfGKRb0VRO3H7ToLGXhKg8Ifk8/rldC+ty7QfcJLLJfRLXbedxOe+5gtpw1lAd1wq563G6XmLYrf81PRV0N6/LqEDqScsRREgqnjG7wB+1hQnff2YtYvsoL91r5qukF7Br7oX593cb6oAZp/BLh1Fd0j4yNJ5OCmxi4gitrBwd1Aa57HEf2F8PjJ7LFN9dOyclRX4WJru/1XPbACzX2w+KzfyD9t+ueboi0kXS254yUaox91MOtpaCZg8Rgq7NiY9GsW2M0jUQAdb938v29/PxVUefoUnEE5bUF3392ibhHKSmFKXHND+zUu6mB16P4D3+UT2B8cAAA=&quot;"/>
    <we:property name="creatorSessionId" value="&quot;4e0ca7f5-bb0d-44e8-8009-027b8ff563a8&quot;"/>
    <we:property name="creatorTenantId" value="&quot;77255288-5298-4ea5-81aa-a13e604c30ac&quot;"/>
    <we:property name="creatorUserId" value="&quot;10032003072C9D6A&quot;"/>
    <we:property name="datasetId" value="&quot;7cb5678f-3679-4838-9b78-6dc852e2f3a0&quot;"/>
    <we:property name="embedUrl" value="&quot;/reportEmbed?reportId=29c72065-6b9d-47b0-81f9-9abb44636a56&amp;groupId=98817804-750e-4509-bef9-11d9de690851&amp;w=2&amp;config=eyJjbHVzdGVyVXJsIjoiaHR0cHM6Ly9XQUJJLU5PUlRILUVVUk9QRS1PLVBSSU1BUlktcmVkaXJlY3QuYW5hbHlzaXMud2luZG93cy5uZXQiLCJlbWJlZEZlYXR1cmVzIjp7InVzYWdlTWV0cmljc1ZOZXh0Ijp0cnVlfX0%3D&amp;disableSensitivityBanner=true&amp;storytellingChangeViewModeShortcutKeys=true&quot;"/>
    <we:property name="initialStateBookmark" value="&quot;H4sIAAAAAAAAA91ZbW/bNhD+K4aAfTMKihJFKt/ytnVr0wZJEWAYguFInhy1smRQdBYvyH/fSbITx87ixE5ap59sHanjc889PB2l68Dm9aiAyScYYrAT7FXVtyG4b70w6Afl1Pb584ej3ZMPf3/aPTokczXyeVXWwc514MEN0J/l9RiKxgMZ/zrvB1AUxzBorjIoauwHI3R1VUKR/4vdZBrybow3/QCvRkXloHF56sFj4/aSptM1rR2+i2hFMD6/xFM0vrOCiROjDaDWodXWog4FTau7CS2yB6c0rtvl96vSQ17SMo2NxtFEGWPA0pgJJlIZNfY6LwfFFPDdvV8mo4aVfEgRNmzor7Rs4+fmhsKJhLACwlSGTCkVKaEVW+nL45XX1dWyN81tbNIsQyMJWSJTQFzprb6A0QPIRGLTKBI8ZSxSaSwEC1dHCS2je2PvifgllybSOg45ixlYybkxVsoNXfJUKq5TYZFDGhFUkYQbuhQiy0ysZBLHImaxsCBXp2QFykSFmYxYyEAnEFmjQW3oMgEVC6UzRnSa1CgUMWyKMhbSKMWUbYhME2l4vKlLk5GgIwVhLFGkNglVK8gsL/x0N+nJ4dXIUSGg8tC53LWXUBq0QbvbHdbd5r4OjhDqsWsdHN4bOK3GzuAJZu1Q6XM/aaAVRW/Y3VIHDZpjV1Flace+VB6K3uGQiskEp8MX1T/7Dqmm2GCH3ZyT5dHIDTh7P2K6cBbd3qSN5iB3swrE+wuAXzUSgt5qjoksSTUyzZJIxglT0VZQv0vlmmph7xQKcJM3zPxSIB3xkZWIHJF2ZpQ0/wRPtoN4713e0NI7Iap7v7xl6pdD6cjXJuGKYZIkkkqYVCLaGtUP3vX+qDSpxed11pXNt5yB/4mnS4PlSWwNbQCe2igFyVUkVqZhnzgYVC43FPViJvarYjwsnwr8NyyJkEXIc9b7nPdXK2F3MHA4AD+9PNwA3KxUL8Kb2X8/aEd+HZfTNIo1VGKrcuz3L8D5dbXygyO+OZ/18XTD17lOfaqSLoAXlcV517JEsYWMI5MMqeU1jCn4jtI9wBElbYilX8Rp749so4Rvy/JCPtk6da5FtO0SfiTi11DwE9XRKTnM0ixMVSYYPQalhFjz8DsqmR4OJ1WxxNi8+dka3qo2VIPbSJ6v24q+vPhWJrSTHaQ8QRGyUGgM6cjHMVVb0YIdo8uIibZl3AL5Uf90BCVlzTWISGjraHAA48XXSj+uHVwKp2sGDZ2BjMykNlZyixFnYNYXxAsW9UYQlRs268xl4CkNCn9MPi9XQrveOkf7ES+xWEQ333nfTXjuY7YY15QFtPtb9bzdKDWvUfyen4quGtLj18Z0IOWMJRDFmFi+wRuw9znVeWcuJt0iS9hvx5eHZmjPwOXd6/M2zrUaoOnb/1tXwT0y3pNEDmY1dg5R0Bh7d4ZmeBpH8CfC4yezxzbVT8vKUVX6i63t9l/0wAo098His3oj/7Tpn26KppC0teSOl2CIbtDCrMa+HoHBYyixZWPUrZljO49EAXS8tdP/rvn9mFPl6VJwBsW4Ad1+dwvaRSgruS5wxQ3N17ighdWi+w99rzspGBwAAA==&quot;"/>
    <we:property name="isFiltersActionButtonVisible" value="true"/>
    <we:property name="isVisualContainerHeaderHidden" value="false"/>
    <we:property name="pageDisplayName" value="&quot;HOME&quot;"/>
    <we:property name="pageName" value="&quot;ac46cbcaebb1dbddeb15&quot;"/>
    <we:property name="reportEmbeddedTime" value="&quot;2026-05-01T14:26:51.366Z&quot;"/>
    <we:property name="reportName" value="&quot;DEPI_Project_HR&quot;"/>
    <we:property name="reportState" value="&quot;CONNECTED&quot;"/>
    <we:property name="reportUrl" value="&quot;/groups/98817804-750e-4509-bef9-11d9de690851/reports/29c72065-6b9d-47b0-81f9-9abb44636a56/ac46cbcaebb1dbddeb15?bookmarkGuid=ef56eea7-038c-40bb-ab59-7eb45c45b451&amp;bookmarkUsage=1&amp;ctid=77255288-5298-4ea5-81aa-a13e604c30ac&amp;fromEntryPoint=export&amp;pbi_source=storytelling_addin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841</TotalTime>
  <Words>539</Words>
  <Application>Microsoft Office PowerPoint</Application>
  <PresentationFormat>On-screen Show (16:9)</PresentationFormat>
  <Paragraphs>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Fira Sans</vt:lpstr>
      <vt:lpstr>Aldrich</vt:lpstr>
      <vt:lpstr>Bai Jamjuree</vt:lpstr>
      <vt:lpstr>Abel</vt:lpstr>
      <vt:lpstr>Arial</vt:lpstr>
      <vt:lpstr>Merriweather</vt:lpstr>
      <vt:lpstr>Lato</vt:lpstr>
      <vt:lpstr>Data Science Project Proposal XL by Slidesgo</vt:lpstr>
      <vt:lpstr>HR ANALYSIS DASHBOARD PROJECT</vt:lpstr>
      <vt:lpstr>Team Members</vt:lpstr>
      <vt:lpstr>PROJECT OVERVIEW</vt:lpstr>
      <vt:lpstr>DATA SOURCE</vt:lpstr>
      <vt:lpstr>Question To Be Answer</vt:lpstr>
      <vt:lpstr>ANALYSIS STEPS</vt:lpstr>
      <vt:lpstr>Data Cleaning</vt:lpstr>
      <vt:lpstr>Data Modelling </vt:lpstr>
      <vt:lpstr>Dax </vt:lpstr>
      <vt:lpstr>Visual Sample</vt:lpstr>
      <vt:lpstr>HR Reports &amp; Dashboard</vt:lpstr>
      <vt:lpstr>Insights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rawda ramadan</cp:lastModifiedBy>
  <cp:revision>23</cp:revision>
  <dcterms:modified xsi:type="dcterms:W3CDTF">2026-05-01T15:47:10Z</dcterms:modified>
</cp:coreProperties>
</file>